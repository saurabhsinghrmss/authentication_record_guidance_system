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4" r:id="rId4"/>
    <p:sldId id="275" r:id="rId5"/>
    <p:sldId id="276" r:id="rId6"/>
    <p:sldId id="282" r:id="rId7"/>
    <p:sldId id="260" r:id="rId8"/>
    <p:sldId id="277" r:id="rId9"/>
    <p:sldId id="278" r:id="rId10"/>
    <p:sldId id="261" r:id="rId11"/>
    <p:sldId id="265" r:id="rId12"/>
    <p:sldId id="266" r:id="rId13"/>
    <p:sldId id="268" r:id="rId14"/>
    <p:sldId id="279" r:id="rId15"/>
    <p:sldId id="269" r:id="rId16"/>
    <p:sldId id="271" r:id="rId17"/>
    <p:sldId id="28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1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75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6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39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8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3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8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30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22670-E22D-8C86-C230-98DB37C4A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2533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DEEF-A1EC-5E39-A3DC-F80F3524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6421835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518A-4C30-6974-2B47-D1DFBC7D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435527"/>
            <a:ext cx="49149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183E3-CCC9-82B0-E4C0-608939E3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500" y="6421834"/>
            <a:ext cx="2743200" cy="365125"/>
          </a:xfrm>
        </p:spPr>
        <p:txBody>
          <a:bodyPr/>
          <a:lstStyle/>
          <a:p>
            <a:fld id="{BC58B3AD-D297-1047-9FAD-E399140930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B2BAF-4E46-E1E5-2A03-488E5A4E8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48256" cy="68275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7C9AFA-0506-58E4-7332-7D31F2B82E1A}"/>
              </a:ext>
            </a:extLst>
          </p:cNvPr>
          <p:cNvCxnSpPr>
            <a:cxnSpLocks/>
          </p:cNvCxnSpPr>
          <p:nvPr userDrawn="1"/>
        </p:nvCxnSpPr>
        <p:spPr>
          <a:xfrm>
            <a:off x="0" y="640913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7861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ieeexplore.ieee.org/author/37087500168" TargetMode="External"/><Relationship Id="rId3" Type="http://schemas.openxmlformats.org/officeDocument/2006/relationships/hyperlink" Target="https://ieeexplore.ieee.org/author/37087499389" TargetMode="External"/><Relationship Id="rId4" Type="http://schemas.openxmlformats.org/officeDocument/2006/relationships/hyperlink" Target="https://ieeexplore.ieee.org/author/37087499800" TargetMode="External"/><Relationship Id="rId5" Type="http://schemas.openxmlformats.org/officeDocument/2006/relationships/hyperlink" Target="https://doi.org/10.1109/ICAIT47043.2019.898726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EC96AF-4D86-8F19-0B71-2C7DCF93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196"/>
            <a:ext cx="2133600" cy="19036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2919715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EduIdentityAI: Student Authentication, Record &amp; Guidance System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83574" y="4278955"/>
            <a:ext cx="2471761" cy="1754326"/>
          </a:xfrm>
          <a:prstGeom prst="rect">
            <a:avLst/>
          </a:prstGeom>
          <a:noFill/>
        </p:spPr>
        <p:txBody>
          <a:bodyPr wrap="square" rtlCol="0" lIns="27432" rIns="27432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PRESENTED BY:
SAURABH SINGH
SARVENDRA SINGH
SAMARTH
SAKSHAR JAIN
Roll numbers: to be added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7937" y="4203673"/>
            <a:ext cx="2779689" cy="2031325"/>
          </a:xfrm>
          <a:prstGeom prst="rect">
            <a:avLst/>
          </a:prstGeom>
          <a:noFill/>
        </p:spPr>
        <p:txBody>
          <a:bodyPr wrap="square" rtlCol="0" lIns="27432" rIns="27432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UNDER SUPERVISION OF:
Faculty Supervisor Name
Designation to be confirmed
CSE (AIML)
G.L. Bajaj Institute of Technology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86152" y="2304132"/>
            <a:ext cx="2326783" cy="369332"/>
          </a:xfrm>
          <a:prstGeom prst="rect">
            <a:avLst/>
          </a:prstGeom>
          <a:noFill/>
        </p:spPr>
        <p:txBody>
          <a:bodyPr wrap="square" rtlCol="0" lIns="27432" rIns="27432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Arial"/>
              </a:rPr>
              <a:t>SESSION 2026–2027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95078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2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INTRODUCTION OF THE PROJECT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024128"/>
            <a:ext cx="946404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843B08"/>
                </a:solidFill>
                <a:latin typeface="Aptos"/>
              </a:rPr>
              <a:t>A connected academic identity and support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1499616"/>
            <a:ext cx="94640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F2937"/>
                </a:solidFill>
                <a:latin typeface="Aptos"/>
              </a:rPr>
              <a:t>EduIdentityAI brings sign-in, academic records, policy lookup and traceable activity into one web application. The current repository is a prototype foundation, not a fully validated production identity 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2304" y="2331720"/>
            <a:ext cx="297180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423160"/>
            <a:ext cx="275234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IDENTITY &amp;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807208"/>
            <a:ext cx="275234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Aptos"/>
              </a:rPr>
              <a:t>Registration, password hashing, JWT sessions, role checks and an institutional approval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13832" y="2331720"/>
            <a:ext cx="2971800" cy="1417320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423160"/>
            <a:ext cx="275234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ACADEMIC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807208"/>
            <a:ext cx="275234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Aptos"/>
              </a:rPr>
              <a:t>Student create/read/update/delete routes and explainable rules based on CGPA, attendance and backlogs.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331720"/>
            <a:ext cx="2971800" cy="1417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2423160"/>
            <a:ext cx="275234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GUIDANCE &amp; 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807208"/>
            <a:ext cx="275234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Aptos"/>
              </a:rPr>
              <a:t>Policy-query endpoint, chat/notices, per-user work logs, WebSocket telemetry and health/metrics routes.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2304" y="4041648"/>
            <a:ext cx="9134856" cy="13258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4178808"/>
            <a:ext cx="201168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991B1B"/>
                </a:solidFill>
                <a:latin typeface="Aptos"/>
              </a:rPr>
              <a:t>IMPORTANT SCOPE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4553712"/>
            <a:ext cx="873252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The portal includes student, faculty and admin selectors. Face/voice/OCR checks and APAAR/DigiLocker responses are simulated or sandboxed; the current policy retriever uses keyword overlap, not a verified dense-embedding/LLM pipeline.</a:t>
            </a:r>
          </a:p>
        </p:txBody>
      </p:sp>
    </p:spTree>
    <p:extLst>
      <p:ext uri="{BB962C8B-B14F-4D97-AF65-F5344CB8AC3E}">
        <p14:creationId xmlns:p14="http://schemas.microsoft.com/office/powerpoint/2010/main" val="365573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3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LITERATURE SURVEY (12 SELECTED STUDIES)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76856" y="1060704"/>
          <a:ext cx="9802368" cy="5095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3566160"/>
                <a:gridCol w="3721608"/>
              </a:tblGrid>
              <a:tr h="310896">
                <a:tc>
                  <a:txBody>
                    <a:bodyPr wrap="square" lIns="45720" rIns="45720" tIns="16459" bIns="16459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Arial"/>
                        </a:rPr>
                        <a:t>STUDY / YEAR</a:t>
                      </a:r>
                    </a:p>
                  </a:txBody>
                  <a:tcPr>
                    <a:solidFill>
                      <a:srgbClr val="843B08"/>
                    </a:solidFill>
                    <a:lnL w="9000">
                      <a:solidFill>
                        <a:srgbClr val="FFFFFF"/>
                      </a:solidFill>
                      <a:prstDash val="solid"/>
                    </a:lnL>
                    <a:lnR w="9000">
                      <a:solidFill>
                        <a:srgbClr val="FFFFFF"/>
                      </a:solidFill>
                      <a:prstDash val="solid"/>
                    </a:lnR>
                    <a:lnT w="9000">
                      <a:solidFill>
                        <a:srgbClr val="FFFFFF"/>
                      </a:solidFill>
                      <a:prstDash val="solid"/>
                    </a:lnT>
                    <a:lnB w="90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Arial"/>
                        </a:rPr>
                        <a:t>CORE IDEA / METHOD</a:t>
                      </a:r>
                    </a:p>
                  </a:txBody>
                  <a:tcPr>
                    <a:solidFill>
                      <a:srgbClr val="843B08"/>
                    </a:solidFill>
                    <a:lnL w="9000">
                      <a:solidFill>
                        <a:srgbClr val="FFFFFF"/>
                      </a:solidFill>
                      <a:prstDash val="solid"/>
                    </a:lnL>
                    <a:lnR w="9000">
                      <a:solidFill>
                        <a:srgbClr val="FFFFFF"/>
                      </a:solidFill>
                      <a:prstDash val="solid"/>
                    </a:lnR>
                    <a:lnT w="9000">
                      <a:solidFill>
                        <a:srgbClr val="FFFFFF"/>
                      </a:solidFill>
                      <a:prstDash val="solid"/>
                    </a:lnT>
                    <a:lnB w="90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Arial"/>
                        </a:rPr>
                        <a:t>PROJECT RELEVANCE / GAP</a:t>
                      </a:r>
                    </a:p>
                  </a:txBody>
                  <a:tcPr>
                    <a:solidFill>
                      <a:srgbClr val="843B08"/>
                    </a:solidFill>
                    <a:lnL w="9000">
                      <a:solidFill>
                        <a:srgbClr val="FFFFFF"/>
                      </a:solidFill>
                      <a:prstDash val="solid"/>
                    </a:lnL>
                    <a:lnR w="9000">
                      <a:solidFill>
                        <a:srgbClr val="FFFFFF"/>
                      </a:solidFill>
                      <a:prstDash val="solid"/>
                    </a:lnR>
                    <a:lnT w="9000">
                      <a:solidFill>
                        <a:srgbClr val="FFFFFF"/>
                      </a:solidFill>
                      <a:prstDash val="solid"/>
                    </a:lnT>
                    <a:lnB w="90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[1] Jain, Ross &amp; Prabhakar (2004)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An Introduction to Biometric Recognition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Reviews biometric traits, identity matching, error trade-offs and privacy concerns.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Supports identity-verification design; requires real evaluation data and privacy safeguards.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[2] Ross &amp; Jain (2003)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Information Fusion in Biometrics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Explains fusion of multiple biometric matchers to reduce weaknesses of single traits.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Motivates face/voice/OCR fusion; project scores are simulated rather than measured.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[3] Phillips et al. (2000)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Evaluating Biometric Systems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Defines systematic methods for assessing face, voice and other biometric systems.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Use FAR/FRR, quality and spoofing tests; no genuine accuracy benchmark was reproduced.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[4] Ferraiolo &amp; Kuhn (1992)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Role-Based Access Controls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Foundational model for assigning permissions through organizational roles.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Project contains role guards; complete endpoint authorization still needs review.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[5] Romero &amp; Ventura (2010)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Educational Data Mining: State of the Art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Surveys analytical methods for extracting insight from educational data.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Supports a future validated student-risk model; current guidance is threshold-based.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[6] Macfadyen &amp; Dawson (2010)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LMS Early-Warning System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Studies online learning activity indicators related to academic outcomes.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Early intervention is promising but needs real student data and outcome validation.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[7] Papamitsiou &amp; Economides (2014)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Learning Analytics &amp; EDM in Practice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Reviews empirical studies of learning analytics and educational data mining.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Guidance should be evidence-led, interpretable and designed with privacy in mind.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[8] Karpukhin et al. (2020)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Dense Passage Retrieval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Uses a trained dual-encoder to retrieve semantically relevant passages for QA.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Potential upgrade path; current `vector_store.py` implements keyword-overlap scoring.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[9] Lewis et al. (2020)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Retrieval-Augmented Generation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Combines document retrieval with language generation for knowledge-intensive tasks.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Current query route returns matched KB content; it does not run a live RAG generator.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[10] Roslan &amp; Chen (2022)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EDM for Student Prediction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Reviews student-performance prediction studies and common data-mining methods.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Suggests benchmarking predictions; current system has no trained performance model.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[11] Alwarthan (2022)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Predicting Higher-Ed Performance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Systematic review of data-mining approaches to higher-education performance.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CGPA/attendance/backlog rules are explainable baselines, not ML predictions.</a:t>
                      </a:r>
                    </a:p>
                  </a:txBody>
                  <a:tcPr>
                    <a:solidFill>
                      <a:srgbClr val="FFFAF5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398678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[12] Rustemi et al. (2023)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Academic Certificate Verification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Reviews blockchain-based academic certificate systems, benefits and adoption gaps.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1F2937"/>
                          </a:solidFill>
                          <a:latin typeface="Arial"/>
                        </a:rPr>
                        <a:t>Credential verification remains sandboxed; blockchain is future scope, not implemented.</a:t>
                      </a:r>
                    </a:p>
                  </a:txBody>
                  <a:tcPr>
                    <a:solidFill>
                      <a:srgbClr val="F8F9FB"/>
                    </a:solidFill>
                    <a:lnL w="5500">
                      <a:solidFill>
                        <a:srgbClr val="D5D9DF"/>
                      </a:solidFill>
                      <a:prstDash val="solid"/>
                    </a:lnL>
                    <a:lnR w="5500">
                      <a:solidFill>
                        <a:srgbClr val="D5D9DF"/>
                      </a:solidFill>
                      <a:prstDash val="solid"/>
                    </a:lnR>
                    <a:lnT w="5500">
                      <a:solidFill>
                        <a:srgbClr val="D5D9DF"/>
                      </a:solidFill>
                      <a:prstDash val="solid"/>
                    </a:lnT>
                    <a:lnB w="5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9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4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EXISTING SYSTEM / RELATED WORK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024128"/>
            <a:ext cx="950976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843B08"/>
                </a:solidFill>
                <a:latin typeface="Aptos"/>
              </a:rPr>
              <a:t>Baseline: separate identity, record and advising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664208"/>
            <a:ext cx="2221992" cy="2267712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1755648"/>
            <a:ext cx="20025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43B08"/>
                </a:solidFill>
                <a:latin typeface="Aptos"/>
              </a:rPr>
              <a:t>FRAGMENTED PORTALS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139696"/>
            <a:ext cx="2002536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Authentication, records, notices and advising may live in different systems or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1664208"/>
            <a:ext cx="2221992" cy="226771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1755648"/>
            <a:ext cx="20025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43B08"/>
                </a:solidFill>
                <a:latin typeface="Aptos"/>
              </a:rPr>
              <a:t>MANUAL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139696"/>
            <a:ext cx="2002536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Document checks and repeated data entry can delay verification and create stale copies.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664208"/>
            <a:ext cx="2221992" cy="22677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1755648"/>
            <a:ext cx="20025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43B08"/>
                </a:solidFill>
                <a:latin typeface="Aptos"/>
              </a:rPr>
              <a:t>GENERIC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2139696"/>
            <a:ext cx="2002536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Static FAQs or unstructured advising make it harder to tie help to attendance and backlogs.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664208"/>
            <a:ext cx="2221992" cy="22677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5207" y="1755648"/>
            <a:ext cx="20025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43B08"/>
                </a:solidFill>
                <a:latin typeface="Aptos"/>
              </a:rPr>
              <a:t>LIMITED AUDITABILITY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7" y="2139696"/>
            <a:ext cx="2002536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Local logs or disconnected activity trails complicate session continuity and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4261104"/>
            <a:ext cx="9354312" cy="9601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4370832"/>
            <a:ext cx="160020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843B08"/>
                </a:solidFill>
                <a:latin typeface="Aptos"/>
              </a:rPr>
              <a:t>PROJECT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4343400"/>
            <a:ext cx="7269480" cy="6309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A FastAPI web API, SQLAlchemy data models, a Lit/Alpine.js portal, a small local policy knowledge base and per-user activity logs. EduIdentityAI integrates these patterns while leaving external identity verification and AI claims explicitly unvalidated.</a:t>
            </a:r>
          </a:p>
        </p:txBody>
      </p:sp>
    </p:spTree>
    <p:extLst>
      <p:ext uri="{BB962C8B-B14F-4D97-AF65-F5344CB8AC3E}">
        <p14:creationId xmlns:p14="http://schemas.microsoft.com/office/powerpoint/2010/main" val="212497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5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MOTIVATION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051560"/>
            <a:ext cx="950976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843B08"/>
                </a:solidFill>
                <a:latin typeface="Aptos"/>
              </a:rPr>
              <a:t>Why unify these workflows?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1847088"/>
            <a:ext cx="2907792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1938528"/>
            <a:ext cx="26883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43B08"/>
                </a:solidFill>
                <a:latin typeface="Aptos"/>
              </a:rPr>
              <a:t>01 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22576"/>
            <a:ext cx="2688336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40" b="0" i="0">
                <a:solidFill>
                  <a:srgbClr val="1F2937"/>
                </a:solidFill>
                <a:latin typeface="Aptos"/>
              </a:rPr>
              <a:t>Keep identity, role and record access in a common workflow; surface where approval or verification is still pending.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847088"/>
            <a:ext cx="2907792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1848" y="1938528"/>
            <a:ext cx="26883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43B08"/>
                </a:solidFill>
                <a:latin typeface="Aptos"/>
              </a:rPr>
              <a:t>02  EARLIER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2322576"/>
            <a:ext cx="2688336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40" b="0" i="0">
                <a:solidFill>
                  <a:srgbClr val="1F2937"/>
                </a:solidFill>
                <a:latin typeface="Aptos"/>
              </a:rPr>
              <a:t>Turn attendance, CGPA and backlog fields into clear next-step messages that students and mentors can discuss.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847088"/>
            <a:ext cx="2907792" cy="2011680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1938528"/>
            <a:ext cx="26883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43B08"/>
                </a:solidFill>
                <a:latin typeface="Aptos"/>
              </a:rPr>
              <a:t>03 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322576"/>
            <a:ext cx="2688336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40" b="0" i="0">
                <a:solidFill>
                  <a:srgbClr val="1F2937"/>
                </a:solidFill>
                <a:latin typeface="Aptos"/>
              </a:rPr>
              <a:t>Preserve user-scoped work snapshots and expose live service signals for troubleshooting and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315968"/>
            <a:ext cx="9034272" cy="777240"/>
          </a:xfrm>
          <a:prstGeom prst="roundRect">
            <a:avLst/>
          </a:prstGeom>
          <a:solidFill>
            <a:srgbClr val="FFF8F1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4489704"/>
            <a:ext cx="864108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937"/>
                </a:solidFill>
                <a:latin typeface="Aptos"/>
              </a:rPr>
              <a:t>Design principle: demonstrate an integrated student-services prototype without confusing simulation, policy heuristics or future integrations with proven production capability.</a:t>
            </a:r>
          </a:p>
        </p:txBody>
      </p:sp>
    </p:spTree>
    <p:extLst>
      <p:ext uri="{BB962C8B-B14F-4D97-AF65-F5344CB8AC3E}">
        <p14:creationId xmlns:p14="http://schemas.microsoft.com/office/powerpoint/2010/main" val="367538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8131-228B-589C-3B5E-6AA2AAA7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59AC0-31A3-6276-CCFC-D32568EB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6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3A789-4FE2-96FC-020B-48BCAAA0F711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30B6745-4EF8-9B09-86CB-E5F4B8C6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097280"/>
            <a:ext cx="9354312" cy="1225296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280160"/>
            <a:ext cx="89154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843B08"/>
                </a:solidFill>
                <a:latin typeface="Aptos"/>
              </a:rPr>
              <a:t>How can an academic portal bring identity checks, student records and actionable guidance into one maintainable workflow—while clearly separating verified data from simulated integrations?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2697480"/>
            <a:ext cx="2926080" cy="2084831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2888" y="2788920"/>
            <a:ext cx="270662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IDENTITY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3172968"/>
            <a:ext cx="2706624" cy="1536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Role access and multi-step sign-in require consistent authorization, safe secrets and verifiable credential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2697480"/>
            <a:ext cx="2926080" cy="2084831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2788920"/>
            <a:ext cx="270662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RECORD CONTINUITY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3172968"/>
            <a:ext cx="2706624" cy="1536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Academic fields, mentor communications and session activity need dependable storage and carefully scoped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2697480"/>
            <a:ext cx="2926080" cy="2084831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7" y="2788920"/>
            <a:ext cx="270662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GUIDANCE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7" y="3172968"/>
            <a:ext cx="2706624" cy="1536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ptos"/>
              </a:rPr>
              <a:t>Rule-based recommendations and keyword retrieval need evaluation for correctness, fairness and usefulness.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074920"/>
            <a:ext cx="9144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91B1B"/>
                </a:solidFill>
                <a:latin typeface="Aptos"/>
              </a:rPr>
              <a:t>Core challenge: integrate the workflows, then validate security, advice quality and service behaviour before real student deployment.</a:t>
            </a:r>
          </a:p>
        </p:txBody>
      </p:sp>
    </p:spTree>
    <p:extLst>
      <p:ext uri="{BB962C8B-B14F-4D97-AF65-F5344CB8AC3E}">
        <p14:creationId xmlns:p14="http://schemas.microsoft.com/office/powerpoint/2010/main" val="140221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7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OBJECTIVES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32304" y="1143000"/>
            <a:ext cx="93268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234440"/>
            <a:ext cx="2084831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843B08"/>
                </a:solidFill>
                <a:latin typeface="Aptos"/>
              </a:rPr>
              <a:t>01 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216152"/>
            <a:ext cx="3794760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1F2937"/>
                </a:solidFill>
                <a:latin typeface="Aptos"/>
              </a:rPr>
              <a:t>Implement sign-in, password hashing, JWT sessions and role-based guards.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1216152"/>
            <a:ext cx="2999232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40" b="0" i="0">
                <a:solidFill>
                  <a:srgbClr val="4B5563"/>
                </a:solidFill>
                <a:latin typeface="Aptos"/>
              </a:rPr>
              <a:t>Next: secure configuration, route-wide authorization tests and production OTP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32304" y="2221991"/>
            <a:ext cx="9326880" cy="868680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313432"/>
            <a:ext cx="2084831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843B08"/>
                </a:solidFill>
                <a:latin typeface="Aptos"/>
              </a:rPr>
              <a:t>02  CENTRAL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95144"/>
            <a:ext cx="3794760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1F2937"/>
                </a:solidFill>
                <a:latin typeface="Aptos"/>
              </a:rPr>
              <a:t>Provide student record CRUD and a shared relational data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295144"/>
            <a:ext cx="2999232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40" b="0" i="0">
                <a:solidFill>
                  <a:srgbClr val="4B5563"/>
                </a:solidFill>
                <a:latin typeface="Aptos"/>
              </a:rPr>
              <a:t>Next: validate data quality, audit critical changes and enforce privacy-by-role.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2304" y="3300984"/>
            <a:ext cx="9326880" cy="868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3392424"/>
            <a:ext cx="2084831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843B08"/>
                </a:solidFill>
                <a:latin typeface="Aptos"/>
              </a:rPr>
              <a:t>03 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74136"/>
            <a:ext cx="3794760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1F2937"/>
                </a:solidFill>
                <a:latin typeface="Aptos"/>
              </a:rPr>
              <a:t>Generate readable recommendations from CGPA, attendance and backlog fields; answer sample policy queries.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3374136"/>
            <a:ext cx="2999232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40" b="0" i="0">
                <a:solidFill>
                  <a:srgbClr val="4B5563"/>
                </a:solidFill>
                <a:latin typeface="Aptos"/>
              </a:rPr>
              <a:t>Next: retrieve from authoritative policy sources and evaluate relevance.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32304" y="4379976"/>
            <a:ext cx="9326880" cy="8686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4471416"/>
            <a:ext cx="2084831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843B08"/>
                </a:solidFill>
                <a:latin typeface="Aptos"/>
              </a:rPr>
              <a:t>04 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453128"/>
            <a:ext cx="3794760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1F2937"/>
                </a:solidFill>
                <a:latin typeface="Aptos"/>
              </a:rPr>
              <a:t>Record per-user activity, expose WebSocket telemetry and service metrics.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4453128"/>
            <a:ext cx="2999232" cy="6766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40" b="0" i="0">
                <a:solidFill>
                  <a:srgbClr val="4B5563"/>
                </a:solidFill>
                <a:latin typeface="Aptos"/>
              </a:rPr>
              <a:t>Next: harden retention, cloud upload and monitoring controls.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3744" y="5577840"/>
            <a:ext cx="914400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0" b="1" i="0">
                <a:solidFill>
                  <a:srgbClr val="991B1B"/>
                </a:solidFill>
                <a:latin typeface="Aptos"/>
              </a:rPr>
              <a:t>Scope status: 4 prototype objectives represented in code; live biometric, official credential and model-validation work remains.</a:t>
            </a:r>
          </a:p>
        </p:txBody>
      </p:sp>
    </p:spTree>
    <p:extLst>
      <p:ext uri="{BB962C8B-B14F-4D97-AF65-F5344CB8AC3E}">
        <p14:creationId xmlns:p14="http://schemas.microsoft.com/office/powerpoint/2010/main" val="410681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8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PROPOSED METHODOLOGY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6584" y="1691640"/>
            <a:ext cx="1700784" cy="2514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98648" y="1874519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1984248"/>
            <a:ext cx="65836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2724912"/>
            <a:ext cx="155448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843B08"/>
                </a:solidFill>
                <a:latin typeface="Aptos"/>
              </a:rPr>
              <a:t>MAP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3127248"/>
            <a:ext cx="1481328" cy="932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937"/>
                </a:solidFill>
                <a:latin typeface="Aptos"/>
              </a:rPr>
              <a:t>Roles, identity fields, academic records and student support questions.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87368" y="2953512"/>
            <a:ext cx="173736" cy="0"/>
          </a:xfrm>
          <a:prstGeom prst="line">
            <a:avLst/>
          </a:prstGeom>
          <a:ln w="2032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15968" y="1691640"/>
            <a:ext cx="1700784" cy="2514600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8031" y="1874519"/>
            <a:ext cx="658368" cy="658368"/>
          </a:xfrm>
          <a:prstGeom prst="ellipse">
            <a:avLst/>
          </a:prstGeom>
          <a:solidFill>
            <a:srgbClr val="F4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1" y="1984248"/>
            <a:ext cx="65836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24912"/>
            <a:ext cx="155448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843B08"/>
                </a:solidFill>
                <a:latin typeface="Aptos"/>
              </a:rPr>
              <a:t>MODEL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3127248"/>
            <a:ext cx="1481328" cy="932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937"/>
                </a:solidFill>
                <a:latin typeface="Aptos"/>
              </a:rPr>
              <a:t>SQLAlchemy entities, schemas, SQLite default and PostgreSQL option.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16752" y="2953512"/>
            <a:ext cx="173736" cy="0"/>
          </a:xfrm>
          <a:prstGeom prst="line">
            <a:avLst/>
          </a:prstGeom>
          <a:ln w="2032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5352" y="1691640"/>
            <a:ext cx="1700784" cy="2514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57416" y="1874519"/>
            <a:ext cx="658368" cy="658368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57416" y="1984248"/>
            <a:ext cx="65836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2724912"/>
            <a:ext cx="155448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843B08"/>
                </a:solidFill>
                <a:latin typeface="Aptos"/>
              </a:rPr>
              <a:t>BUILD API +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127248"/>
            <a:ext cx="1481328" cy="932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937"/>
                </a:solidFill>
                <a:latin typeface="Aptos"/>
              </a:rPr>
              <a:t>FastAPI routers with Lit/Alpine.js portal calling REST endpoints.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46136" y="2953512"/>
            <a:ext cx="173735" cy="0"/>
          </a:xfrm>
          <a:prstGeom prst="line">
            <a:avLst/>
          </a:prstGeom>
          <a:ln w="2032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74736" y="1691640"/>
            <a:ext cx="1700784" cy="25146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1874519"/>
            <a:ext cx="658368" cy="658368"/>
          </a:xfrm>
          <a:prstGeom prst="ellipse">
            <a:avLst/>
          </a:prstGeom>
          <a:solidFill>
            <a:srgbClr val="843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1984248"/>
            <a:ext cx="65836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724912"/>
            <a:ext cx="155448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843B08"/>
                </a:solidFill>
                <a:latin typeface="Aptos"/>
              </a:rPr>
              <a:t>ADD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3" y="3127248"/>
            <a:ext cx="1481328" cy="932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937"/>
                </a:solidFill>
                <a:latin typeface="Aptos"/>
              </a:rPr>
              <a:t>Rules-based guidance, keyword KB lookup, work logs and WebSocket stream.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75519" y="2953512"/>
            <a:ext cx="173737" cy="0"/>
          </a:xfrm>
          <a:prstGeom prst="line">
            <a:avLst/>
          </a:prstGeom>
          <a:ln w="2032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104120" y="1691640"/>
            <a:ext cx="1700784" cy="2514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16184" y="1874519"/>
            <a:ext cx="658368" cy="658368"/>
          </a:xfrm>
          <a:prstGeom prst="ellipse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16184" y="1984248"/>
            <a:ext cx="65836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2724912"/>
            <a:ext cx="155448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843B08"/>
                </a:solidFill>
                <a:latin typeface="Aptos"/>
              </a:rPr>
              <a:t>VALIDATE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3848" y="3127248"/>
            <a:ext cx="1481328" cy="932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F2937"/>
                </a:solidFill>
                <a:latin typeface="Aptos"/>
              </a:rPr>
              <a:t>Run tests, inspect endpoints and label real vs simulated behaviour.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50592" y="4663440"/>
            <a:ext cx="9253728" cy="7498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33472" y="4800600"/>
            <a:ext cx="8887968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1" i="0">
                <a:solidFill>
                  <a:srgbClr val="991B1B"/>
                </a:solidFill>
                <a:latin typeface="Aptos"/>
              </a:rPr>
              <a:t>Validation finding: the supplied automated test suite currently stops at import time because `Text` is undefined in `backend/models/student.py`; no test cases execute until this is fixed.</a:t>
            </a:r>
          </a:p>
        </p:txBody>
      </p:sp>
    </p:spTree>
    <p:extLst>
      <p:ext uri="{BB962C8B-B14F-4D97-AF65-F5344CB8AC3E}">
        <p14:creationId xmlns:p14="http://schemas.microsoft.com/office/powerpoint/2010/main" val="177175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9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DESCRIPTION OF PROJECT (IN FORM OF DIAGRAM)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978408"/>
            <a:ext cx="964692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1" i="0">
                <a:solidFill>
                  <a:srgbClr val="6B7280"/>
                </a:solidFill>
                <a:latin typeface="Aptos"/>
              </a:rPr>
              <a:t>CURRENT PROTOTYPE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1965960"/>
            <a:ext cx="12344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2048255"/>
            <a:ext cx="11430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43B08"/>
                </a:solidFill>
                <a:latin typeface="Aptos"/>
              </a:rPr>
              <a:t>USER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2304288"/>
            <a:ext cx="1106424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Student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Faculty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67328" y="1965960"/>
            <a:ext cx="1371600" cy="914400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2048255"/>
            <a:ext cx="128016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43B08"/>
                </a:solidFill>
                <a:latin typeface="Aptos"/>
              </a:rPr>
              <a:t>WEB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6" y="2304288"/>
            <a:ext cx="1243584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Lit + Alpine.js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21808" y="1965960"/>
            <a:ext cx="141732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7528" y="2048255"/>
            <a:ext cx="13258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43B08"/>
                </a:solidFill>
                <a:latin typeface="Aptos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6" y="2304288"/>
            <a:ext cx="1289304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REST + WebSocket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11880" y="2432304"/>
            <a:ext cx="137159" cy="0"/>
          </a:xfrm>
          <a:prstGeom prst="line">
            <a:avLst/>
          </a:prstGeom>
          <a:ln w="1905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38928" y="2432304"/>
            <a:ext cx="164592" cy="0"/>
          </a:xfrm>
          <a:prstGeom prst="line">
            <a:avLst/>
          </a:prstGeom>
          <a:ln w="1905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949440" y="1417320"/>
            <a:ext cx="2331720" cy="207568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1517904"/>
            <a:ext cx="1984248" cy="2468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43B08"/>
                </a:solidFill>
                <a:latin typeface="Aptos"/>
              </a:rPr>
              <a:t>SERVICE MODULES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1856231"/>
            <a:ext cx="1965960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5472" y="1892807"/>
            <a:ext cx="1819656" cy="2011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F2937"/>
                </a:solidFill>
                <a:latin typeface="Aptos"/>
              </a:rPr>
              <a:t>Authentication &amp; RBAC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2221991"/>
            <a:ext cx="1965960" cy="283464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2258568"/>
            <a:ext cx="1819656" cy="2011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F2937"/>
                </a:solidFill>
                <a:latin typeface="Aptos"/>
              </a:rPr>
              <a:t>Student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2587752"/>
            <a:ext cx="1965960" cy="2834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5472" y="2624328"/>
            <a:ext cx="1819656" cy="2011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F2937"/>
                </a:solidFill>
                <a:latin typeface="Aptos"/>
              </a:rPr>
              <a:t>Guidance + policy query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2953512"/>
            <a:ext cx="1965960" cy="28346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2990088"/>
            <a:ext cx="1819656" cy="2011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F2937"/>
                </a:solidFill>
                <a:latin typeface="Aptos"/>
              </a:rPr>
              <a:t>Chat / notices / work logs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48272" y="2432304"/>
            <a:ext cx="182880" cy="0"/>
          </a:xfrm>
          <a:prstGeom prst="line">
            <a:avLst/>
          </a:prstGeom>
          <a:ln w="1905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491472" y="1572768"/>
            <a:ext cx="2304288" cy="181051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56064" y="1664208"/>
            <a:ext cx="1984248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43B08"/>
                </a:solidFill>
                <a:latin typeface="Aptos"/>
              </a:rPr>
              <a:t>PERSISTENCE / SIGNALS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6064" y="1993392"/>
            <a:ext cx="196596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1F2937"/>
                </a:solidFill>
                <a:latin typeface="Aptos"/>
              </a:rPr>
              <a:t>• SQLAlchemy → SQLite / 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2313432"/>
            <a:ext cx="196596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1F2937"/>
                </a:solidFill>
                <a:latin typeface="Aptos"/>
              </a:rPr>
              <a:t>• sample_students.json knowledge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6064" y="2633472"/>
            <a:ext cx="196596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1F2937"/>
                </a:solidFill>
                <a:latin typeface="Aptos"/>
              </a:rPr>
              <a:t>• Per-user JSON / JSONL logs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6064" y="2953512"/>
            <a:ext cx="1965960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1F2937"/>
                </a:solidFill>
                <a:latin typeface="Aptos"/>
              </a:rPr>
              <a:t>• /health · /metrics · audit stream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90304" y="2432304"/>
            <a:ext cx="182880" cy="0"/>
          </a:xfrm>
          <a:prstGeom prst="line">
            <a:avLst/>
          </a:prstGeom>
          <a:ln w="19050">
            <a:solidFill>
              <a:srgbClr val="F48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86016" y="3675887"/>
            <a:ext cx="4791456" cy="48463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3767328"/>
            <a:ext cx="4498848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91B1B"/>
                </a:solidFill>
                <a:latin typeface="Aptos"/>
              </a:rPr>
              <a:t>SIMULATED / FUTURE ADAPTERS: biometric models · official APAAR/DigiLocker API · live cloud bucket sync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95728" y="4572000"/>
            <a:ext cx="2221992" cy="106070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87168" y="4681728"/>
            <a:ext cx="2039112" cy="22860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843B08"/>
                </a:solidFill>
                <a:latin typeface="Aptos"/>
              </a:rPr>
              <a:t>BASE 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7168" y="4974336"/>
            <a:ext cx="2039112" cy="51206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1F2937"/>
                </a:solidFill>
                <a:latin typeface="Aptos"/>
              </a:rPr>
              <a:t>Basic portal + student database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91456" y="4572000"/>
            <a:ext cx="2221992" cy="1060704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82896" y="4681728"/>
            <a:ext cx="2039112" cy="22860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843B08"/>
                </a:solidFill>
                <a:latin typeface="Aptos"/>
              </a:rPr>
              <a:t>MODIFICATIONS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2896" y="4974336"/>
            <a:ext cx="2039112" cy="51206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1F2937"/>
                </a:solidFill>
                <a:latin typeface="Aptos"/>
              </a:rPr>
              <a:t>Guidance, role checks and activity logs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87184" y="4572000"/>
            <a:ext cx="2221992" cy="10607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8624" y="4681728"/>
            <a:ext cx="2039112" cy="22860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843B08"/>
                </a:solidFill>
                <a:latin typeface="Aptos"/>
              </a:rPr>
              <a:t>EXPECTED RESULT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8624" y="4974336"/>
            <a:ext cx="2039112" cy="51206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1F2937"/>
                </a:solidFill>
                <a:latin typeface="Aptos"/>
              </a:rPr>
              <a:t>More coherent academic workflow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82912" y="4572000"/>
            <a:ext cx="2221992" cy="106070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74352" y="4681728"/>
            <a:ext cx="2039112" cy="22860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40" b="1" i="0">
                <a:solidFill>
                  <a:srgbClr val="843B08"/>
                </a:solidFill>
                <a:latin typeface="Aptos"/>
              </a:rPr>
              <a:t>CONCLUSION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74352" y="4974336"/>
            <a:ext cx="2039112" cy="51206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1F2937"/>
                </a:solidFill>
                <a:latin typeface="Aptos"/>
              </a:rPr>
              <a:t>Prototype; security and integrations need validation</a:t>
            </a:r>
          </a:p>
        </p:txBody>
      </p:sp>
    </p:spTree>
    <p:extLst>
      <p:ext uri="{BB962C8B-B14F-4D97-AF65-F5344CB8AC3E}">
        <p14:creationId xmlns:p14="http://schemas.microsoft.com/office/powerpoint/2010/main" val="2311221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10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HARDWARE &amp; SOFTWARE REQUIREMENTS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1161288"/>
            <a:ext cx="4526280" cy="43159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1371600"/>
            <a:ext cx="406908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43B08"/>
                </a:solidFill>
                <a:latin typeface="Aptos"/>
              </a:rPr>
              <a:t>HARDWARE /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828800"/>
            <a:ext cx="4050791" cy="33192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• </a:t>
            </a:r>
            <a:r>
              <a:rPr sz="1200" b="0">
                <a:solidFill>
                  <a:srgbClr val="1F2937"/>
                </a:solidFill>
                <a:latin typeface="Aptos"/>
              </a:rPr>
              <a:t>Modern dual-core CPU (Core i5 / Ryzen 5 class or equivalent)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• </a:t>
            </a:r>
            <a:r>
              <a:rPr sz="1200" b="0">
                <a:solidFill>
                  <a:srgbClr val="1F2937"/>
                </a:solidFill>
                <a:latin typeface="Aptos"/>
              </a:rPr>
              <a:t>8 GB RAM baseline; 16 GB recommended for development tools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• </a:t>
            </a:r>
            <a:r>
              <a:rPr sz="1200" b="0">
                <a:solidFill>
                  <a:srgbClr val="1F2937"/>
                </a:solidFill>
                <a:latin typeface="Aptos"/>
              </a:rPr>
              <a:t>~10 GB free SSD space for source, dependencies and sample data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• </a:t>
            </a:r>
            <a:r>
              <a:rPr sz="1200" b="0">
                <a:solidFill>
                  <a:srgbClr val="1F2937"/>
                </a:solidFill>
                <a:latin typeface="Aptos"/>
              </a:rPr>
              <a:t>Current simulated biometric pipeline does not require a GPU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• </a:t>
            </a:r>
            <a:r>
              <a:rPr sz="1200" b="0">
                <a:solidFill>
                  <a:srgbClr val="1F2937"/>
                </a:solidFill>
                <a:latin typeface="Aptos"/>
              </a:rPr>
              <a:t>GPU / accelerator only for future real neural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161288"/>
            <a:ext cx="4526280" cy="4315968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1371600"/>
            <a:ext cx="4050791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43B08"/>
                </a:solidFill>
                <a:latin typeface="Aptos"/>
              </a:rPr>
              <a:t>SOFTWARE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1828800"/>
            <a:ext cx="4050791" cy="33192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80">
                <a:solidFill>
                  <a:srgbClr val="1F2937"/>
                </a:solidFill>
                <a:latin typeface="Aptos"/>
              </a:rPr>
              <a:t>• </a:t>
            </a:r>
            <a:r>
              <a:rPr sz="1180" b="0">
                <a:solidFill>
                  <a:srgbClr val="1F2937"/>
                </a:solidFill>
                <a:latin typeface="Aptos"/>
              </a:rPr>
              <a:t>Windows / Linux / macOS; Python 3.10+ (repository targets Python 3.13)</a:t>
            </a:r>
          </a:p>
          <a:p>
            <a:pPr algn="l">
              <a:spcAft>
                <a:spcPts val="500"/>
              </a:spcAft>
            </a:pPr>
            <a:r>
              <a:rPr sz="1180">
                <a:solidFill>
                  <a:srgbClr val="1F2937"/>
                </a:solidFill>
                <a:latin typeface="Aptos"/>
              </a:rPr>
              <a:t>• </a:t>
            </a:r>
            <a:r>
              <a:rPr sz="1180" b="0">
                <a:solidFill>
                  <a:srgbClr val="1F2937"/>
                </a:solidFill>
                <a:latin typeface="Aptos"/>
              </a:rPr>
              <a:t>FastAPI, SQLAlchemy, Pydantic, Alembic, python-jose / Passlib</a:t>
            </a:r>
          </a:p>
          <a:p>
            <a:pPr algn="l">
              <a:spcAft>
                <a:spcPts val="500"/>
              </a:spcAft>
            </a:pPr>
            <a:r>
              <a:rPr sz="1180">
                <a:solidFill>
                  <a:srgbClr val="1F2937"/>
                </a:solidFill>
                <a:latin typeface="Aptos"/>
              </a:rPr>
              <a:t>• </a:t>
            </a:r>
            <a:r>
              <a:rPr sz="1180" b="0">
                <a:solidFill>
                  <a:srgbClr val="1F2937"/>
                </a:solidFill>
                <a:latin typeface="Aptos"/>
              </a:rPr>
              <a:t>Node.js 18+ and npm/Vite; Lit and Alpine.js frontend</a:t>
            </a:r>
          </a:p>
          <a:p>
            <a:pPr algn="l">
              <a:spcAft>
                <a:spcPts val="500"/>
              </a:spcAft>
            </a:pPr>
            <a:r>
              <a:rPr sz="1180">
                <a:solidFill>
                  <a:srgbClr val="1F2937"/>
                </a:solidFill>
                <a:latin typeface="Aptos"/>
              </a:rPr>
              <a:t>• </a:t>
            </a:r>
            <a:r>
              <a:rPr sz="1180" b="0">
                <a:solidFill>
                  <a:srgbClr val="1F2937"/>
                </a:solidFill>
                <a:latin typeface="Aptos"/>
              </a:rPr>
              <a:t>SQLite by default; PostgreSQL 15 defined in container setup</a:t>
            </a:r>
          </a:p>
          <a:p>
            <a:pPr algn="l">
              <a:spcAft>
                <a:spcPts val="500"/>
              </a:spcAft>
            </a:pPr>
            <a:r>
              <a:rPr sz="1180">
                <a:solidFill>
                  <a:srgbClr val="1F2937"/>
                </a:solidFill>
                <a:latin typeface="Aptos"/>
              </a:rPr>
              <a:t>• </a:t>
            </a:r>
            <a:r>
              <a:rPr sz="1180" b="0">
                <a:solidFill>
                  <a:srgbClr val="1F2937"/>
                </a:solidFill>
                <a:latin typeface="Aptos"/>
              </a:rPr>
              <a:t>A modern browser; Docker Compose is optional for supporting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1176" y="5650992"/>
            <a:ext cx="91440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70" b="0" i="1">
                <a:solidFill>
                  <a:srgbClr val="6B7280"/>
                </a:solidFill>
                <a:latin typeface="Aptos"/>
              </a:rPr>
              <a:t>Note: hardware figures are practical development guidance, not a measured production sizing study.</a:t>
            </a:r>
          </a:p>
        </p:txBody>
      </p:sp>
    </p:spTree>
    <p:extLst>
      <p:ext uri="{BB962C8B-B14F-4D97-AF65-F5344CB8AC3E}">
        <p14:creationId xmlns:p14="http://schemas.microsoft.com/office/powerpoint/2010/main" val="385601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11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1252728"/>
            <a:ext cx="9217152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380744"/>
            <a:ext cx="877824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MODULE 1  |  AUTHENTICATION &amp;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37360"/>
            <a:ext cx="873252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90" b="0" i="0">
                <a:solidFill>
                  <a:srgbClr val="1F2937"/>
                </a:solidFill>
                <a:latin typeface="Aptos"/>
              </a:rPr>
              <a:t>Registration / login, password hashing, JWT session tokens, role guards and institutional approval state. OTP is currently stored in memory; the math challenge is implemented in the frontend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2697480"/>
            <a:ext cx="9217152" cy="1143000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825496"/>
            <a:ext cx="877824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MODULE 2  |  ACADEMIC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182112"/>
            <a:ext cx="873252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90" b="0" i="0">
                <a:solidFill>
                  <a:srgbClr val="1F2937"/>
                </a:solidFill>
                <a:latin typeface="Aptos"/>
              </a:rPr>
              <a:t>Student CRUD through FastAPI + SQLAlchemy, student profile fields, and guidance rules based on attendance, CGPA and active backlogs.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4142232"/>
            <a:ext cx="9217152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4270248"/>
            <a:ext cx="877824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843B08"/>
                </a:solidFill>
                <a:latin typeface="Aptos"/>
              </a:rPr>
              <a:t>MODULE 3  |  GUIDANCE &amp;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626864"/>
            <a:ext cx="873252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90" b="0" i="0">
                <a:solidFill>
                  <a:srgbClr val="1F2937"/>
                </a:solidFill>
                <a:latin typeface="Aptos"/>
              </a:rPr>
              <a:t>Keyword-based policy lookup, URL heuristic checks, mentor/community messaging, notices, user-scoped activity logs, WebSocket telemetry and Prometheus endpoints.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5669280"/>
            <a:ext cx="905256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70" b="0" i="0">
                <a:solidFill>
                  <a:srgbClr val="6B7280"/>
                </a:solidFill>
                <a:latin typeface="Aptos"/>
              </a:rPr>
              <a:t>Cross-cutting: SQLAlchemy models · SQLite/PostgreSQL configuration · sample knowledge base · local file storage</a:t>
            </a:r>
          </a:p>
        </p:txBody>
      </p:sp>
    </p:spTree>
    <p:extLst>
      <p:ext uri="{BB962C8B-B14F-4D97-AF65-F5344CB8AC3E}">
        <p14:creationId xmlns:p14="http://schemas.microsoft.com/office/powerpoint/2010/main" val="144319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12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207008"/>
            <a:ext cx="2880360" cy="1965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1298448"/>
            <a:ext cx="266090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43B08"/>
                </a:solidFill>
                <a:latin typeface="Aptos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1682496"/>
            <a:ext cx="2660904" cy="1417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70" b="0" i="0">
                <a:solidFill>
                  <a:srgbClr val="1F2937"/>
                </a:solidFill>
                <a:latin typeface="Aptos"/>
              </a:rPr>
              <a:t>JWT-based login; password hashing; role dependencies. OTP storage is in-process, not a persistent verification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207008"/>
            <a:ext cx="2880360" cy="1965960"/>
          </a:xfrm>
          <a:prstGeom prst="roundRect">
            <a:avLst/>
          </a:prstGeom>
          <a:solidFill>
            <a:srgbClr val="FFF4E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1298448"/>
            <a:ext cx="266090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43B08"/>
                </a:solidFill>
                <a:latin typeface="Aptos"/>
              </a:rPr>
              <a:t>STUDENT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8" y="1682496"/>
            <a:ext cx="2660904" cy="1417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70" b="0" i="0">
                <a:solidFill>
                  <a:srgbClr val="1F2937"/>
                </a:solidFill>
                <a:latin typeface="Aptos"/>
              </a:rPr>
              <a:t>REST routes for listing, creating, updating and deleting records. Write paths use role checks; read-path permissions need a full security audit.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207008"/>
            <a:ext cx="2880360" cy="1965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0807" y="1298448"/>
            <a:ext cx="266090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43B08"/>
                </a:solidFill>
                <a:latin typeface="Aptos"/>
              </a:rPr>
              <a:t>GUIDANCE /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7" y="1682496"/>
            <a:ext cx="2660904" cy="1417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70" b="0" i="0">
                <a:solidFill>
                  <a:srgbClr val="1F2937"/>
                </a:solidFill>
                <a:latin typeface="Aptos"/>
              </a:rPr>
              <a:t>Attendance threshold (75%), CGPA bands and backlog messages. Policy lookup uses a local JSON knowledge base and simple keyword overlap.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3547872"/>
            <a:ext cx="2880360" cy="1965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87368" y="3639312"/>
            <a:ext cx="266090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43B08"/>
                </a:solidFill>
                <a:latin typeface="Aptos"/>
              </a:rPr>
              <a:t>BIOMETRICS / 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4023360"/>
            <a:ext cx="2660904" cy="1417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70" b="0" i="0">
                <a:solidFill>
                  <a:srgbClr val="1F2937"/>
                </a:solidFill>
                <a:latin typeface="Aptos"/>
              </a:rPr>
              <a:t>Face, voice and OCR return random confidence values; APAAR checks ID length; DigiLocker response is fixed sandbox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3547872"/>
            <a:ext cx="2880360" cy="19659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3639312"/>
            <a:ext cx="2660904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43B08"/>
                </a:solidFill>
                <a:latin typeface="Aptos"/>
              </a:rPr>
              <a:t>MESSAGING /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023360"/>
            <a:ext cx="2660904" cy="1417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70" b="0" i="0">
                <a:solidFill>
                  <a:srgbClr val="1F2937"/>
                </a:solidFill>
                <a:latin typeface="Aptos"/>
              </a:rPr>
              <a:t>Mentor chat, community groups, notices, per-user last-work / login history / activity stream, WebSocket and metrics endpoints.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5742432"/>
            <a:ext cx="9144000" cy="219456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991B1B"/>
                </a:solidFill>
                <a:latin typeface="Aptos"/>
              </a:rPr>
              <a:t>Project claim discipline: simulated adapters are shown as simulated; real services must be integrated and evaluated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65067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13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RESULT ANALYSIS AND DISCUSSION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359152" y="1225296"/>
          <a:ext cx="9646918" cy="425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794760"/>
                <a:gridCol w="3977639"/>
              </a:tblGrid>
              <a:tr h="393192">
                <a:tc>
                  <a:txBody>
                    <a:bodyPr wrap="square" lIns="45720" rIns="45720" tIns="16459" bIns="16459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843B08"/>
                    </a:solidFill>
                    <a:lnL w="9000">
                      <a:solidFill>
                        <a:srgbClr val="FFFFFF"/>
                      </a:solidFill>
                      <a:prstDash val="solid"/>
                    </a:lnL>
                    <a:lnR w="9000">
                      <a:solidFill>
                        <a:srgbClr val="FFFFFF"/>
                      </a:solidFill>
                      <a:prstDash val="solid"/>
                    </a:lnR>
                    <a:lnT w="9000">
                      <a:solidFill>
                        <a:srgbClr val="FFFFFF"/>
                      </a:solidFill>
                      <a:prstDash val="solid"/>
                    </a:lnT>
                    <a:lnB w="90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EVIDENCE IN REPOSITORY</a:t>
                      </a:r>
                    </a:p>
                  </a:txBody>
                  <a:tcPr>
                    <a:solidFill>
                      <a:srgbClr val="843B08"/>
                    </a:solidFill>
                    <a:lnL w="9000">
                      <a:solidFill>
                        <a:srgbClr val="FFFFFF"/>
                      </a:solidFill>
                      <a:prstDash val="solid"/>
                    </a:lnL>
                    <a:lnR w="9000">
                      <a:solidFill>
                        <a:srgbClr val="FFFFFF"/>
                      </a:solidFill>
                      <a:prstDash val="solid"/>
                    </a:lnR>
                    <a:lnT w="9000">
                      <a:solidFill>
                        <a:srgbClr val="FFFFFF"/>
                      </a:solidFill>
                      <a:prstDash val="solid"/>
                    </a:lnT>
                    <a:lnB w="90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REVIEW OUTCOME</a:t>
                      </a:r>
                    </a:p>
                  </a:txBody>
                  <a:tcPr>
                    <a:solidFill>
                      <a:srgbClr val="843B08"/>
                    </a:solidFill>
                    <a:lnL w="9000">
                      <a:solidFill>
                        <a:srgbClr val="FFFFFF"/>
                      </a:solidFill>
                      <a:prstDash val="solid"/>
                    </a:lnL>
                    <a:lnR w="9000">
                      <a:solidFill>
                        <a:srgbClr val="FFFFFF"/>
                      </a:solidFill>
                      <a:prstDash val="solid"/>
                    </a:lnR>
                    <a:lnT w="9000">
                      <a:solidFill>
                        <a:srgbClr val="FFFFFF"/>
                      </a:solidFill>
                      <a:prstDash val="solid"/>
                    </a:lnT>
                    <a:lnB w="90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71753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1">
                          <a:solidFill>
                            <a:srgbClr val="1F2937"/>
                          </a:solidFill>
                          <a:latin typeface="Arial"/>
                        </a:rPr>
                        <a:t>Application architecture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FastAPI routes + Lit/Alpine.js portal + SQLAlchemy models are present in the repository.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Source artifacts present; runtime startup needs a blocker fix.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771753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1">
                          <a:solidFill>
                            <a:srgbClr val="1F2937"/>
                          </a:solidFill>
                          <a:latin typeface="Arial"/>
                        </a:rPr>
                        <a:t>Student record logic</a:t>
                      </a:r>
                    </a:p>
                  </a:txBody>
                  <a:tcPr>
                    <a:solidFill>
                      <a:srgbClr val="FFFAF5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CRUD routes and threshold-based advice for attendance / CGPA / backlogs are implemented in code.</a:t>
                      </a:r>
                    </a:p>
                  </a:txBody>
                  <a:tcPr>
                    <a:solidFill>
                      <a:srgbClr val="FFFAF5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Logic found; full integration tests could not run.</a:t>
                      </a:r>
                    </a:p>
                  </a:txBody>
                  <a:tcPr>
                    <a:solidFill>
                      <a:srgbClr val="FFFAF5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771753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1">
                          <a:solidFill>
                            <a:srgbClr val="1F2937"/>
                          </a:solidFill>
                          <a:latin typeface="Arial"/>
                        </a:rPr>
                        <a:t>Policy query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`vector_store.py` scores lexical keyword overlap against `sample_students.json`.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Prototype retrieval only; no dense-model relevance result verified.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771753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1">
                          <a:solidFill>
                            <a:srgbClr val="1F2937"/>
                          </a:solidFill>
                          <a:latin typeface="Arial"/>
                        </a:rPr>
                        <a:t>Biometric / credential checks</a:t>
                      </a:r>
                    </a:p>
                  </a:txBody>
                  <a:tcPr>
                    <a:solidFill>
                      <a:srgbClr val="FFFAF5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Biometric confidence is randomized; APAAR and DigiLocker routes return sandbox/stub results.</a:t>
                      </a:r>
                    </a:p>
                  </a:txBody>
                  <a:tcPr>
                    <a:solidFill>
                      <a:srgbClr val="FFFAF5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Simulation only; no real identity verification or accuracy result.</a:t>
                      </a:r>
                    </a:p>
                  </a:txBody>
                  <a:tcPr>
                    <a:solidFill>
                      <a:srgbClr val="FFFAF5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  <a:tr h="771753"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1">
                          <a:solidFill>
                            <a:srgbClr val="1F2937"/>
                          </a:solidFill>
                          <a:latin typeface="Arial"/>
                        </a:rPr>
                        <a:t>Automated validation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`backend/tests/test_api.py` is included, but pytest fails during import.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  <a:tc>
                  <a:txBody>
                    <a:bodyPr wrap="square" lIns="45720" rIns="45720" tIns="16459" bIns="16459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2937"/>
                          </a:solidFill>
                          <a:latin typeface="Arial"/>
                        </a:rPr>
                        <a:t>Blocker: `NameError: Text is not defined` in `backend/models/student.py`; 0 tests executed.</a:t>
                      </a:r>
                    </a:p>
                  </a:txBody>
                  <a:tcPr>
                    <a:solidFill>
                      <a:srgbClr val="F8F9FB"/>
                    </a:solidFill>
                    <a:lnL w="6500">
                      <a:solidFill>
                        <a:srgbClr val="D5D9DF"/>
                      </a:solidFill>
                      <a:prstDash val="solid"/>
                    </a:lnL>
                    <a:lnR w="6500">
                      <a:solidFill>
                        <a:srgbClr val="D5D9DF"/>
                      </a:solidFill>
                      <a:prstDash val="solid"/>
                    </a:lnR>
                    <a:lnT w="6500">
                      <a:solidFill>
                        <a:srgbClr val="D5D9DF"/>
                      </a:solidFill>
                      <a:prstDash val="solid"/>
                    </a:lnT>
                    <a:lnB w="6500">
                      <a:solidFill>
                        <a:srgbClr val="D5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377440" y="5614416"/>
            <a:ext cx="9601200" cy="43891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5687568"/>
            <a:ext cx="9326880" cy="26517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30" b="1" i="0">
                <a:solidFill>
                  <a:srgbClr val="991B1B"/>
                </a:solidFill>
                <a:latin typeface="Aptos"/>
              </a:rPr>
              <a:t>No independently reproducible latency, biometric-accuracy or RAG-precision benchmark was established in this review.</a:t>
            </a:r>
          </a:p>
        </p:txBody>
      </p:sp>
    </p:spTree>
    <p:extLst>
      <p:ext uri="{BB962C8B-B14F-4D97-AF65-F5344CB8AC3E}">
        <p14:creationId xmlns:p14="http://schemas.microsoft.com/office/powerpoint/2010/main" val="3558885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14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SCREENSHOTS OF RESULT (PROTOTYPE UI PREVIEW)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pic>
        <p:nvPicPr>
          <p:cNvPr id="13" name="Picture 12" descr="ars_ui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280160"/>
            <a:ext cx="5925312" cy="380390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76488" y="1316736"/>
            <a:ext cx="3227832" cy="244144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481328"/>
            <a:ext cx="2862072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30" b="1" i="0">
                <a:solidFill>
                  <a:srgbClr val="843B08"/>
                </a:solidFill>
                <a:latin typeface="Aptos"/>
              </a:rPr>
              <a:t>VISIBLE IN THE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874519"/>
            <a:ext cx="2852928" cy="16550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spcAft>
                <a:spcPts val="500"/>
              </a:spcAft>
            </a:pPr>
            <a:r>
              <a:rPr sz="1080">
                <a:solidFill>
                  <a:srgbClr val="1F2937"/>
                </a:solidFill>
                <a:latin typeface="Aptos"/>
              </a:rPr>
              <a:t>• </a:t>
            </a:r>
            <a:r>
              <a:rPr sz="1080" b="0">
                <a:solidFill>
                  <a:srgbClr val="1F2937"/>
                </a:solidFill>
                <a:latin typeface="Aptos"/>
              </a:rPr>
              <a:t>Student / faculty / admin role selector</a:t>
            </a:r>
          </a:p>
          <a:p>
            <a:pPr algn="l">
              <a:spcAft>
                <a:spcPts val="500"/>
              </a:spcAft>
            </a:pPr>
            <a:r>
              <a:rPr sz="1080">
                <a:solidFill>
                  <a:srgbClr val="1F2937"/>
                </a:solidFill>
                <a:latin typeface="Aptos"/>
              </a:rPr>
              <a:t>• </a:t>
            </a:r>
            <a:r>
              <a:rPr sz="1080" b="0">
                <a:solidFill>
                  <a:srgbClr val="1F2937"/>
                </a:solidFill>
                <a:latin typeface="Aptos"/>
              </a:rPr>
              <a:t>Sign-in and new sign-up views</a:t>
            </a:r>
          </a:p>
          <a:p>
            <a:pPr algn="l">
              <a:spcAft>
                <a:spcPts val="500"/>
              </a:spcAft>
            </a:pPr>
            <a:r>
              <a:rPr sz="1080">
                <a:solidFill>
                  <a:srgbClr val="1F2937"/>
                </a:solidFill>
                <a:latin typeface="Aptos"/>
              </a:rPr>
              <a:t>• </a:t>
            </a:r>
            <a:r>
              <a:rPr sz="1080" b="0">
                <a:solidFill>
                  <a:srgbClr val="1F2937"/>
                </a:solidFill>
                <a:latin typeface="Aptos"/>
              </a:rPr>
              <a:t>Math challenge flow in frontend JavaScript</a:t>
            </a:r>
          </a:p>
          <a:p>
            <a:pPr algn="l">
              <a:spcAft>
                <a:spcPts val="500"/>
              </a:spcAft>
            </a:pPr>
            <a:r>
              <a:rPr sz="1080">
                <a:solidFill>
                  <a:srgbClr val="1F2937"/>
                </a:solidFill>
                <a:latin typeface="Aptos"/>
              </a:rPr>
              <a:t>• </a:t>
            </a:r>
            <a:r>
              <a:rPr sz="1080" b="0">
                <a:solidFill>
                  <a:srgbClr val="1F2937"/>
                </a:solidFill>
                <a:latin typeface="Aptos"/>
              </a:rPr>
              <a:t>Workspace sections for records, guidance and communities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3977639"/>
            <a:ext cx="3227832" cy="111556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4096512"/>
            <a:ext cx="2871216" cy="2468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91B1B"/>
                </a:solidFill>
                <a:latin typeface="Aptos"/>
              </a:rPr>
              <a:t>RUNTIME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4407408"/>
            <a:ext cx="2852928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90" b="0" i="0">
                <a:solidFill>
                  <a:srgbClr val="1F2937"/>
                </a:solidFill>
                <a:latin typeface="Aptos"/>
              </a:rPr>
              <a:t>The screenshot is a source-inspired UI preview, not a live authenticated session. Backend startup is currently blocked by the missing `Text` import.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5321808"/>
            <a:ext cx="585216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9" b="0" i="1">
                <a:solidFill>
                  <a:srgbClr val="6B7280"/>
                </a:solidFill>
                <a:latin typeface="Aptos"/>
              </a:rPr>
              <a:t>Portal mock preview based on `frontend/index.html` and `frontend/css/style.css`.</a:t>
            </a:r>
          </a:p>
        </p:txBody>
      </p:sp>
    </p:spTree>
    <p:extLst>
      <p:ext uri="{BB962C8B-B14F-4D97-AF65-F5344CB8AC3E}">
        <p14:creationId xmlns:p14="http://schemas.microsoft.com/office/powerpoint/2010/main" val="218722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15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CONCLUSION &amp; FUTURE SCOPE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32304" y="1170432"/>
            <a:ext cx="9281160" cy="10789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1325880"/>
            <a:ext cx="141732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D746E"/>
                </a:solidFill>
                <a:latin typeface="Aptos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298448"/>
            <a:ext cx="7360920" cy="7040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20" b="0" i="0">
                <a:solidFill>
                  <a:srgbClr val="1F2937"/>
                </a:solidFill>
                <a:latin typeface="Aptos"/>
              </a:rPr>
              <a:t>EduIdentityAI demonstrates a modular path for connecting sign-in, academic record management, explainable rules-based guidance and activity tracing in a single educational portal.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542032"/>
            <a:ext cx="905256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43B08"/>
                </a:solidFill>
                <a:latin typeface="Aptos"/>
              </a:rPr>
              <a:t>PRIORITY FUTURE WORK</a:t>
            </a:r>
          </a:p>
        </p:txBody>
      </p:sp>
      <p:sp>
        <p:nvSpPr>
          <p:cNvPr id="17" name="Oval 16"/>
          <p:cNvSpPr/>
          <p:nvPr/>
        </p:nvSpPr>
        <p:spPr>
          <a:xfrm>
            <a:off x="2551176" y="2962656"/>
            <a:ext cx="347472" cy="347472"/>
          </a:xfrm>
          <a:prstGeom prst="ellipse">
            <a:avLst/>
          </a:prstGeom>
          <a:solidFill>
            <a:srgbClr val="F4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51176" y="3017520"/>
            <a:ext cx="347472" cy="20116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26080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10" b="1" i="0">
                <a:solidFill>
                  <a:srgbClr val="843B08"/>
                </a:solidFill>
                <a:latin typeface="Aptos"/>
              </a:rPr>
              <a:t>Fix startup +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926080"/>
            <a:ext cx="6400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Import `Text`, rerun automated tests, add CI and endpoint-level tests.</a:t>
            </a:r>
          </a:p>
        </p:txBody>
      </p:sp>
      <p:sp>
        <p:nvSpPr>
          <p:cNvPr id="21" name="Oval 20"/>
          <p:cNvSpPr/>
          <p:nvPr/>
        </p:nvSpPr>
        <p:spPr>
          <a:xfrm>
            <a:off x="2551176" y="3520440"/>
            <a:ext cx="347472" cy="347472"/>
          </a:xfrm>
          <a:prstGeom prst="ellipse">
            <a:avLst/>
          </a:prstGeom>
          <a:solidFill>
            <a:srgbClr val="F4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1176" y="3575304"/>
            <a:ext cx="347472" cy="20116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483864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10" b="1" i="0">
                <a:solidFill>
                  <a:srgbClr val="843B08"/>
                </a:solidFill>
                <a:latin typeface="Aptos"/>
              </a:rPr>
              <a:t>Harden access &amp;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483864"/>
            <a:ext cx="6400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Externalize secrets, narrow CORS, review public reads, token policy, OTP limits and log retention.</a:t>
            </a:r>
          </a:p>
        </p:txBody>
      </p:sp>
      <p:sp>
        <p:nvSpPr>
          <p:cNvPr id="25" name="Oval 24"/>
          <p:cNvSpPr/>
          <p:nvPr/>
        </p:nvSpPr>
        <p:spPr>
          <a:xfrm>
            <a:off x="2551176" y="4078224"/>
            <a:ext cx="347472" cy="347472"/>
          </a:xfrm>
          <a:prstGeom prst="ellipse">
            <a:avLst/>
          </a:prstGeom>
          <a:solidFill>
            <a:srgbClr val="F4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51176" y="4133087"/>
            <a:ext cx="347472" cy="20116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041648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10" b="1" i="0">
                <a:solidFill>
                  <a:srgbClr val="843B08"/>
                </a:solidFill>
                <a:latin typeface="Aptos"/>
              </a:rPr>
              <a:t>Replace simulations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041648"/>
            <a:ext cx="6400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Integrate real biometric inference and authorized national credential APIs; measure FAR/FRR.</a:t>
            </a:r>
          </a:p>
        </p:txBody>
      </p:sp>
      <p:sp>
        <p:nvSpPr>
          <p:cNvPr id="29" name="Oval 28"/>
          <p:cNvSpPr/>
          <p:nvPr/>
        </p:nvSpPr>
        <p:spPr>
          <a:xfrm>
            <a:off x="2551176" y="4636008"/>
            <a:ext cx="347472" cy="347472"/>
          </a:xfrm>
          <a:prstGeom prst="ellipse">
            <a:avLst/>
          </a:prstGeom>
          <a:solidFill>
            <a:srgbClr val="F4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51176" y="4690872"/>
            <a:ext cx="347472" cy="20116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599432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10" b="1" i="0">
                <a:solidFill>
                  <a:srgbClr val="843B08"/>
                </a:solidFill>
                <a:latin typeface="Aptos"/>
              </a:rPr>
              <a:t>Upgrade guidance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599432"/>
            <a:ext cx="6400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Add embedding retrieval / grounded generation, policy freshness and relevance evaluation.</a:t>
            </a:r>
          </a:p>
        </p:txBody>
      </p:sp>
      <p:sp>
        <p:nvSpPr>
          <p:cNvPr id="33" name="Oval 32"/>
          <p:cNvSpPr/>
          <p:nvPr/>
        </p:nvSpPr>
        <p:spPr>
          <a:xfrm>
            <a:off x="2551176" y="5193792"/>
            <a:ext cx="347472" cy="347472"/>
          </a:xfrm>
          <a:prstGeom prst="ellipse">
            <a:avLst/>
          </a:prstGeom>
          <a:solidFill>
            <a:srgbClr val="F4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51176" y="5248656"/>
            <a:ext cx="347472" cy="20116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157216"/>
            <a:ext cx="2057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10" b="1" i="0">
                <a:solidFill>
                  <a:srgbClr val="843B08"/>
                </a:solidFill>
                <a:latin typeface="Aptos"/>
              </a:rPr>
              <a:t>Production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157216"/>
            <a:ext cx="6400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Implement live cloud object upload, backups, observability, load testing and role governance.</a:t>
            </a:r>
          </a:p>
        </p:txBody>
      </p:sp>
    </p:spTree>
    <p:extLst>
      <p:ext uri="{BB962C8B-B14F-4D97-AF65-F5344CB8AC3E}">
        <p14:creationId xmlns:p14="http://schemas.microsoft.com/office/powerpoint/2010/main" val="36009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16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REFERENCES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005840"/>
            <a:ext cx="470916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40" b="1" i="0">
                <a:solidFill>
                  <a:srgbClr val="843B08"/>
                </a:solidFill>
                <a:latin typeface="Aptos"/>
              </a:rPr>
              <a:t>BIOMETRICS, SECURITY &amp; EARLY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8896" y="1005840"/>
            <a:ext cx="461772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843B08"/>
                </a:solidFill>
                <a:latin typeface="Aptos"/>
              </a:rPr>
              <a:t>LEARNING ANALYTICS, RETRIEVAL &amp; 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1353312"/>
            <a:ext cx="4700016" cy="4681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[1] Jain, A. K., Ross, A., &amp; Prabhakar, S. (2004). An introduction to biometric recognition. IEEE Transactions on Circuits and Systems for Video Technology, 14(1), 4–20. https://doi.org/10.1109/TCSVT.2003.818349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[2] Ross, A., &amp; Jain, A. (2003). Information fusion in biometrics. Pattern Recognition Letters, 24(13), 2115–2125. https://doi.org/10.1016/S0167-8655(03)00079-5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[3] Phillips, P. J., Martin, A., Wilson, C. L., &amp; Przybocki, M. (2000). Introduction to evaluating biometric systems (NIST IR 6384). National Institute of Standards and Technology. https://www.nist.gov/publications/introduction-evaluating-biometric-systems-0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[4] Ferraiolo, D. F., &amp; Kuhn, D. R. (1992). Role-based access controls. Proceedings of the 15th National Computer Security Conference. NIST. https://www.nist.gov/publications/role-based-access-controls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[5] Romero, C., &amp; Ventura, S. (2010). Educational data mining: A review of the state of the art. IEEE Transactions on Systems, Man, and Cybernetics, Part C, 40(6), 601–618. https://doi.org/10.1109/TSMCC.2010.2053532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[6] Macfadyen, L. P., &amp; Dawson, S. (2010). Mining LMS data to develop an “early warning system” for educators: A proof of concept. Computers &amp; Education, 54(2), 588–599. https://doi.org/10.1016/j.compedu.2009.09.008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353312"/>
            <a:ext cx="4736592" cy="4681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[7] Papamitsiou, Z., &amp; Economides, A. A. (2014). Learning analytics and educational data mining in practice: A systematic literature review of empirical evidence. Educational Technology &amp; Society, 17(4), 49–64. https://eric.ed.gov/?id=EJ1045537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[8] Karpukhin, V., et al. (2020). Dense passage retrieval for open-domain question answering. Proceedings of EMNLP 2020, 6769–6781. https://doi.org/10.18653/v1/2020.emnlp-main.550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[9] Lewis, P., et al. (2020). Retrieval-augmented generation for knowledge-intensive NLP tasks. Advances in Neural Information Processing Systems, 33. https://arxiv.org/abs/2005.11401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[10] Roslan, M. H., &amp; Chen, C. J. (2022). Educational data mining for student performance prediction: A systematic literature review (2015–2021). International Journal of Emerging Technologies in Learning, 17(5), 147–179. https://doi.org/10.3991/ijet.v17i05.27685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[11] Alwarthan, S. A. (2022). Predicting student academic performance at higher education using data mining: A systematic review. Applied Computational Intelligence and Soft Computing, 2022, Article 8924028. https://doi.org/10.1155/2022/8924028</a:t>
            </a:r>
          </a:p>
          <a:p>
            <a:pPr algn="l">
              <a:spcAft>
                <a:spcPts val="700"/>
              </a:spcAft>
            </a:pPr>
            <a:r>
              <a:rPr sz="855" b="0" i="0">
                <a:solidFill>
                  <a:srgbClr val="1F2937"/>
                </a:solidFill>
                <a:latin typeface="Aptos"/>
              </a:rPr>
              <a:t>[12] Rustemi, A., Dalipi, F., Atanasovski, V., &amp; Risteski, A. (2023). A systematic literature review on blockchain-based systems for academic certificate verification. IEEE Access, 11, 64679–64696. https://doi.org/10.1109/ACCESS.2023.3289598</a:t>
            </a:r>
          </a:p>
        </p:txBody>
      </p:sp>
    </p:spTree>
    <p:extLst>
      <p:ext uri="{BB962C8B-B14F-4D97-AF65-F5344CB8AC3E}">
        <p14:creationId xmlns:p14="http://schemas.microsoft.com/office/powerpoint/2010/main" val="4070441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2C75-B1B0-35EF-D10A-6943A410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12AC7-A257-6E86-7CDA-AC05B4F2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17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0D5F5-D9E6-1C0F-3D90-47F6E70F0C9E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30" b="1" i="0">
                <a:solidFill>
                  <a:srgbClr val="FFFFFF"/>
                </a:solidFill>
                <a:latin typeface="Times New Roman"/>
              </a:rPr>
              <a:t>PUBLICATION DETAILS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7006A416-35FB-3859-3229-4FCCCEF7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1344168"/>
            <a:ext cx="9070848" cy="3566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645920"/>
            <a:ext cx="196596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0" b="1" i="0">
                <a:solidFill>
                  <a:srgbClr val="843B08"/>
                </a:solidFill>
                <a:latin typeface="Aptos"/>
              </a:rPr>
              <a:t>CONFERENCE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62636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0" i="0">
                <a:solidFill>
                  <a:srgbClr val="1F2937"/>
                </a:solidFill>
                <a:latin typeface="Aptos"/>
              </a:rPr>
              <a:t>Not supplied / not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2331720"/>
            <a:ext cx="196596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0" b="1" i="0">
                <a:solidFill>
                  <a:srgbClr val="843B08"/>
                </a:solidFill>
                <a:latin typeface="Aptos"/>
              </a:rPr>
              <a:t>CONFERENCE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31720"/>
            <a:ext cx="62636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0" i="0">
                <a:solidFill>
                  <a:srgbClr val="1F2937"/>
                </a:solidFill>
                <a:latin typeface="Aptos"/>
              </a:rPr>
              <a:t>Not supplied / not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017520"/>
            <a:ext cx="196596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0" b="1" i="0">
                <a:solidFill>
                  <a:srgbClr val="843B08"/>
                </a:solidFill>
                <a:latin typeface="Aptos"/>
              </a:rPr>
              <a:t>PROPOSED PAPER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944368"/>
            <a:ext cx="626364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20" b="0" i="0">
                <a:solidFill>
                  <a:srgbClr val="1F2937"/>
                </a:solidFill>
                <a:latin typeface="Aptos"/>
              </a:rPr>
              <a:t>EduIdentityAI: Student Authentication, Record &amp; Guidance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749039"/>
            <a:ext cx="196596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0" b="1" i="0">
                <a:solidFill>
                  <a:srgbClr val="843B08"/>
                </a:solidFill>
                <a:latin typeface="Aptos"/>
              </a:rPr>
              <a:t>PAPER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94176"/>
            <a:ext cx="6263640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91B1B"/>
                </a:solidFill>
                <a:latin typeface="Aptos"/>
              </a:rPr>
              <a:t>Submission / acceptance status was not evidenced in the supplied project archive. Update this slide only when official details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3686134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27432" rIns="27432" tIns="18288" bIns="18288" anchor="ctr"/>
          <a:lstStyle/>
          <a:p>
            <a:pPr algn="ctr"/>
            <a:r>
              <a:rPr sz="1000" b="0" i="1">
                <a:solidFill>
                  <a:srgbClr val="4B5563"/>
                </a:solidFill>
                <a:latin typeface="Aptos"/>
              </a:rPr>
              <a:t>18</a:t>
            </a:r>
            <a:endParaRPr lang="en-US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 wrap="square" lIns="27432" rIns="27432" tIns="18288" bIns="18288" anchor="ctr"/>
          <a:lstStyle/>
          <a:p>
            <a:pPr algn="ctr">
              <a:defRPr/>
            </a:pPr>
            <a:r>
              <a:rPr sz="850" b="0" i="1">
                <a:solidFill>
                  <a:srgbClr val="6B7280"/>
                </a:solidFill>
                <a:latin typeface="Times New Roman"/>
              </a:rPr>
              <a:t>Department of Computer Science Engineering (AIML)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94560"/>
            <a:ext cx="8915400" cy="8229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843B08"/>
                </a:solidFill>
                <a:latin typeface="Aptos Display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3081528"/>
            <a:ext cx="8869680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886200"/>
            <a:ext cx="8823960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6B7280"/>
                </a:solidFill>
                <a:latin typeface="Aptos"/>
              </a:rPr>
              <a:t>EduIdentityAI  |  G.L. Bajaj Institute of Technology &amp; Management</a:t>
            </a:r>
          </a:p>
        </p:txBody>
      </p:sp>
    </p:spTree>
    <p:extLst>
      <p:ext uri="{BB962C8B-B14F-4D97-AF65-F5344CB8AC3E}">
        <p14:creationId xmlns:p14="http://schemas.microsoft.com/office/powerpoint/2010/main" val="386299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634</Words>
  <Application>Microsoft Office PowerPoint</Application>
  <PresentationFormat>Widescreen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EduIdentityAI: Student Authentication, Record &amp; Guidance System</dc:title>
  <dc:creator>Project Team</dc:creator>
  <cp:lastModifiedBy>Harish Yadav</cp:lastModifiedBy>
  <cp:revision>30</cp:revision>
  <dcterms:created xsi:type="dcterms:W3CDTF">2023-09-02T07:11:33Z</dcterms:created>
  <dcterms:modified xsi:type="dcterms:W3CDTF">2026-10-04T14:02:01Z</dcterms:modified>
  <dc:subject>Project presentation prepared using the supplied GL Bajaj presentation format and repository analysis</dc:subject>
  <cp:keywords>EduIdentityAI, authentication, academic records, student guidance, project presentation</cp:keywords>
</cp:coreProperties>
</file>