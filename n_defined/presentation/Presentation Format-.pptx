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59" r:id="rId3"/>
    <p:sldId id="274" r:id="rId4"/>
    <p:sldId id="275" r:id="rId5"/>
    <p:sldId id="276" r:id="rId6"/>
    <p:sldId id="282" r:id="rId7"/>
    <p:sldId id="260" r:id="rId8"/>
    <p:sldId id="277" r:id="rId9"/>
    <p:sldId id="278" r:id="rId10"/>
    <p:sldId id="261" r:id="rId11"/>
    <p:sldId id="265" r:id="rId12"/>
    <p:sldId id="266" r:id="rId13"/>
    <p:sldId id="268" r:id="rId14"/>
    <p:sldId id="279" r:id="rId15"/>
    <p:sldId id="269" r:id="rId16"/>
    <p:sldId id="271" r:id="rId17"/>
    <p:sldId id="281" r:id="rId18"/>
    <p:sldId id="272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86" d="100"/>
          <a:sy n="86" d="100"/>
        </p:scale>
        <p:origin x="562" y="4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A31C0C-BF6F-4E86-B49A-DAD3769A8CC0}" type="datetimeFigureOut">
              <a:rPr lang="en-IN" smtClean="0"/>
              <a:t>04-10-2026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724298-AB9C-47C9-878C-0F795DF0A8B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808161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A31C0C-BF6F-4E86-B49A-DAD3769A8CC0}" type="datetimeFigureOut">
              <a:rPr lang="en-IN" smtClean="0"/>
              <a:t>04-10-2026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724298-AB9C-47C9-878C-0F795DF0A8B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956634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A31C0C-BF6F-4E86-B49A-DAD3769A8CC0}" type="datetimeFigureOut">
              <a:rPr lang="en-IN" smtClean="0"/>
              <a:t>04-10-2026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724298-AB9C-47C9-878C-0F795DF0A8B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057527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A31C0C-BF6F-4E86-B49A-DAD3769A8CC0}" type="datetimeFigureOut">
              <a:rPr lang="en-IN" smtClean="0"/>
              <a:t>04-10-2026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724298-AB9C-47C9-878C-0F795DF0A8B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906699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A31C0C-BF6F-4E86-B49A-DAD3769A8CC0}" type="datetimeFigureOut">
              <a:rPr lang="en-IN" smtClean="0"/>
              <a:t>04-10-2026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724298-AB9C-47C9-878C-0F795DF0A8B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283909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A31C0C-BF6F-4E86-B49A-DAD3769A8CC0}" type="datetimeFigureOut">
              <a:rPr lang="en-IN" smtClean="0"/>
              <a:t>04-10-2026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724298-AB9C-47C9-878C-0F795DF0A8B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800888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A31C0C-BF6F-4E86-B49A-DAD3769A8CC0}" type="datetimeFigureOut">
              <a:rPr lang="en-IN" smtClean="0"/>
              <a:t>04-10-2026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724298-AB9C-47C9-878C-0F795DF0A8B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407312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A31C0C-BF6F-4E86-B49A-DAD3769A8CC0}" type="datetimeFigureOut">
              <a:rPr lang="en-IN" smtClean="0"/>
              <a:t>04-10-2026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724298-AB9C-47C9-878C-0F795DF0A8B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39879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A31C0C-BF6F-4E86-B49A-DAD3769A8CC0}" type="datetimeFigureOut">
              <a:rPr lang="en-IN" smtClean="0"/>
              <a:t>04-10-2026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724298-AB9C-47C9-878C-0F795DF0A8B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575639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A31C0C-BF6F-4E86-B49A-DAD3769A8CC0}" type="datetimeFigureOut">
              <a:rPr lang="en-IN" smtClean="0"/>
              <a:t>04-10-2026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724298-AB9C-47C9-878C-0F795DF0A8B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642807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A31C0C-BF6F-4E86-B49A-DAD3769A8CC0}" type="datetimeFigureOut">
              <a:rPr lang="en-IN" smtClean="0"/>
              <a:t>04-10-2026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724298-AB9C-47C9-878C-0F795DF0A8B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1730676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F22670-E22D-8C86-C230-98DB37C4AA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5600" y="1253331"/>
            <a:ext cx="10515600" cy="4351338"/>
          </a:xfrm>
        </p:spPr>
        <p:txBody>
          <a:bodyPr/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B4DEEF-A1EC-5E39-A3DC-F80F3524052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35000" y="6421835"/>
            <a:ext cx="27432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82518A-4C30-6974-2B47-D1DFBC7DB2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581400" y="6435527"/>
            <a:ext cx="4914900" cy="365125"/>
          </a:xfrm>
        </p:spPr>
        <p:txBody>
          <a:bodyPr/>
          <a:lstStyle>
            <a:lvl1pPr>
              <a:defRPr sz="180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r>
              <a:rPr lang="en-US" b="1" i="1" dirty="0">
                <a:latin typeface="Garamond" panose="02020404030301010803" pitchFamily="18" charset="0"/>
                <a:cs typeface="Times New Roman" pitchFamily="18" charset="0"/>
              </a:rPr>
              <a:t>Department of Computer Science &amp; Engineering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0183E3-CCC9-82B0-E4C0-608939E3F9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99500" y="6421834"/>
            <a:ext cx="2743200" cy="365125"/>
          </a:xfrm>
        </p:spPr>
        <p:txBody>
          <a:bodyPr/>
          <a:lstStyle/>
          <a:p>
            <a:fld id="{BC58B3AD-D297-1047-9FAD-E399140930C8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25B2BAF-4E46-E1E5-2A03-488E5A4E8B7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2048256" cy="682752"/>
          </a:xfrm>
          <a:prstGeom prst="rect">
            <a:avLst/>
          </a:prstGeom>
        </p:spPr>
      </p:pic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BB7C9AFA-0506-58E4-7332-7D31F2B82E1A}"/>
              </a:ext>
            </a:extLst>
          </p:cNvPr>
          <p:cNvCxnSpPr>
            <a:cxnSpLocks/>
          </p:cNvCxnSpPr>
          <p:nvPr userDrawn="1"/>
        </p:nvCxnSpPr>
        <p:spPr>
          <a:xfrm>
            <a:off x="0" y="6409134"/>
            <a:ext cx="12192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607861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8A31C0C-BF6F-4E86-B49A-DAD3769A8CC0}" type="datetimeFigureOut">
              <a:rPr lang="en-IN" smtClean="0"/>
              <a:t>04-10-2026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724298-AB9C-47C9-878C-0F795DF0A8B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958797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ieeexplore.ieee.org/author/37087499389" TargetMode="External"/><Relationship Id="rId2" Type="http://schemas.openxmlformats.org/officeDocument/2006/relationships/hyperlink" Target="https://ieeexplore.ieee.org/author/37087500168" TargetMode="External"/><Relationship Id="rId1" Type="http://schemas.openxmlformats.org/officeDocument/2006/relationships/slideLayout" Target="../slideLayouts/slideLayout12.xml"/><Relationship Id="rId5" Type="http://schemas.openxmlformats.org/officeDocument/2006/relationships/hyperlink" Target="https://doi.org/10.1109/ICAIT47043.2019.8987264" TargetMode="External"/><Relationship Id="rId4" Type="http://schemas.openxmlformats.org/officeDocument/2006/relationships/hyperlink" Target="https://ieeexplore.ieee.org/author/37087499800" TargetMode="Externa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67827F24-4E05-D3AB-1EA8-C2892DB07D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452209" y="6576293"/>
            <a:ext cx="6618891" cy="210666"/>
          </a:xfrm>
        </p:spPr>
        <p:txBody>
          <a:bodyPr/>
          <a:lstStyle/>
          <a:p>
            <a:pPr>
              <a:defRPr/>
            </a:pPr>
            <a:r>
              <a:rPr lang="en-US" b="1" i="1" dirty="0">
                <a:latin typeface="Garamond" panose="02020404030301010803" pitchFamily="18" charset="0"/>
                <a:cs typeface="Times New Roman" pitchFamily="18" charset="0"/>
              </a:rPr>
              <a:t>Department of Computer Science Engineering(AIML)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76DE54B-BF47-723F-C6C1-13095075F1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58B3AD-D297-1047-9FAD-E399140930C8}" type="slidenum">
              <a:rPr lang="en-US" smtClean="0"/>
              <a:pPr/>
              <a:t>1</a:t>
            </a:fld>
            <a:endParaRPr lang="en-US" dirty="0"/>
          </a:p>
        </p:txBody>
      </p:sp>
      <p:sp>
        <p:nvSpPr>
          <p:cNvPr id="10" name="Rectangle 9"/>
          <p:cNvSpPr/>
          <p:nvPr/>
        </p:nvSpPr>
        <p:spPr>
          <a:xfrm>
            <a:off x="0" y="736600"/>
            <a:ext cx="2133600" cy="6121400"/>
          </a:xfrm>
          <a:prstGeom prst="rect">
            <a:avLst/>
          </a:prstGeom>
          <a:solidFill>
            <a:schemeClr val="accent2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109454" tIns="54727" rIns="109454" bIns="54727" anchor="ctr"/>
          <a:lstStyle/>
          <a:p>
            <a:pPr algn="ctr"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2EC96AF-4D86-8F19-0B71-2C7DCF93FF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154196"/>
            <a:ext cx="2133600" cy="1903686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3173D117-F69F-2C28-6919-6F07CC144FD4}"/>
              </a:ext>
            </a:extLst>
          </p:cNvPr>
          <p:cNvSpPr/>
          <p:nvPr/>
        </p:nvSpPr>
        <p:spPr>
          <a:xfrm>
            <a:off x="2133600" y="2919715"/>
            <a:ext cx="10058400" cy="736600"/>
          </a:xfrm>
          <a:prstGeom prst="rect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latin typeface="Garamond" panose="02020404030301010803" pitchFamily="18" charset="0"/>
                <a:cs typeface="Times New Roman" pitchFamily="18" charset="0"/>
              </a:rPr>
              <a:t>TITLE OF THE PROJECT</a:t>
            </a:r>
            <a:endParaRPr lang="en-US" sz="2800" dirty="0">
              <a:latin typeface="Garamond" panose="02020404030301010803" pitchFamily="18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2383574" y="4278955"/>
            <a:ext cx="2471761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PRESENTED BY :</a:t>
            </a:r>
          </a:p>
          <a:p>
            <a:r>
              <a:rPr lang="en-US" dirty="0"/>
              <a:t>STUDENT NAME &amp; ROLL NO</a:t>
            </a:r>
          </a:p>
          <a:p>
            <a:r>
              <a:rPr lang="en-US" dirty="0" err="1"/>
              <a:t>Eg</a:t>
            </a:r>
            <a:r>
              <a:rPr lang="en-US" dirty="0"/>
              <a:t>;</a:t>
            </a:r>
          </a:p>
          <a:p>
            <a:r>
              <a:rPr lang="en-US" dirty="0"/>
              <a:t>AMAN KUMAR</a:t>
            </a:r>
          </a:p>
          <a:p>
            <a:r>
              <a:rPr lang="en-US" dirty="0"/>
              <a:t>20010154875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37937" y="4203673"/>
            <a:ext cx="2779689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UNDER SUPERVISION OF  :</a:t>
            </a:r>
          </a:p>
          <a:p>
            <a:r>
              <a:rPr lang="en-US" dirty="0"/>
              <a:t>SUPERVISOR’S NAME &amp; DESIGNATION</a:t>
            </a:r>
          </a:p>
          <a:p>
            <a:r>
              <a:rPr lang="en-US" dirty="0" err="1"/>
              <a:t>Eg</a:t>
            </a:r>
            <a:r>
              <a:rPr lang="en-US" dirty="0"/>
              <a:t>;</a:t>
            </a:r>
          </a:p>
          <a:p>
            <a:r>
              <a:rPr lang="en-US" dirty="0"/>
              <a:t>MR.SALMAN K AHMAD</a:t>
            </a:r>
          </a:p>
          <a:p>
            <a:r>
              <a:rPr lang="en-US" dirty="0"/>
              <a:t>Assistant Professor</a:t>
            </a:r>
          </a:p>
          <a:p>
            <a:r>
              <a:rPr lang="en-US" dirty="0"/>
              <a:t>CSE-AIML, GLBITM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86152" y="2304132"/>
            <a:ext cx="23267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i="1" dirty="0"/>
              <a:t>SESSION 2026-2027</a:t>
            </a:r>
            <a:endParaRPr lang="en-IN" b="1" i="1" dirty="0"/>
          </a:p>
        </p:txBody>
      </p:sp>
    </p:spTree>
    <p:extLst>
      <p:ext uri="{BB962C8B-B14F-4D97-AF65-F5344CB8AC3E}">
        <p14:creationId xmlns:p14="http://schemas.microsoft.com/office/powerpoint/2010/main" val="39507861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76DE54B-BF47-723F-C6C1-13095075F1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58B3AD-D297-1047-9FAD-E399140930C8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10" name="Rectangle 9"/>
          <p:cNvSpPr/>
          <p:nvPr/>
        </p:nvSpPr>
        <p:spPr>
          <a:xfrm>
            <a:off x="0" y="736600"/>
            <a:ext cx="2133600" cy="6121400"/>
          </a:xfrm>
          <a:prstGeom prst="rect">
            <a:avLst/>
          </a:prstGeom>
          <a:solidFill>
            <a:schemeClr val="accent2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109454" tIns="54727" rIns="109454" bIns="54727" anchor="ctr"/>
          <a:lstStyle/>
          <a:p>
            <a:pPr algn="ctr"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173D117-F69F-2C28-6919-6F07CC144FD4}"/>
              </a:ext>
            </a:extLst>
          </p:cNvPr>
          <p:cNvSpPr/>
          <p:nvPr/>
        </p:nvSpPr>
        <p:spPr>
          <a:xfrm>
            <a:off x="2133600" y="0"/>
            <a:ext cx="10058400" cy="736600"/>
          </a:xfrm>
          <a:prstGeom prst="rect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latin typeface="Garamond" panose="02020404030301010803" pitchFamily="18" charset="0"/>
                <a:cs typeface="Times New Roman" pitchFamily="18" charset="0"/>
              </a:rPr>
              <a:t>INTRODUCTION OF THE PROJECT</a:t>
            </a:r>
            <a:endParaRPr lang="en-US" sz="2800" dirty="0">
              <a:latin typeface="Garamond" panose="02020404030301010803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611928" y="2070827"/>
            <a:ext cx="8299451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err="1"/>
              <a:t>Breif</a:t>
            </a:r>
            <a:r>
              <a:rPr lang="en-US" sz="2800" dirty="0"/>
              <a:t> write up about the </a:t>
            </a:r>
            <a:r>
              <a:rPr lang="en-US" sz="2800" dirty="0" err="1"/>
              <a:t>project,which</a:t>
            </a:r>
            <a:r>
              <a:rPr lang="en-US" sz="2800" dirty="0"/>
              <a:t> involves the basic definition &amp; Foundational aspects of the Work.</a:t>
            </a:r>
            <a:endParaRPr lang="en-IN" sz="2800" dirty="0"/>
          </a:p>
        </p:txBody>
      </p:sp>
      <p:sp>
        <p:nvSpPr>
          <p:cNvPr id="8" name="Footer Placeholder 6">
            <a:extLst>
              <a:ext uri="{FF2B5EF4-FFF2-40B4-BE49-F238E27FC236}">
                <a16:creationId xmlns:a16="http://schemas.microsoft.com/office/drawing/2014/main" id="{67827F24-4E05-D3AB-1EA8-C2892DB07D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452209" y="6576293"/>
            <a:ext cx="6618891" cy="210666"/>
          </a:xfrm>
        </p:spPr>
        <p:txBody>
          <a:bodyPr/>
          <a:lstStyle/>
          <a:p>
            <a:pPr>
              <a:defRPr/>
            </a:pPr>
            <a:r>
              <a:rPr lang="en-US" b="1" i="1" dirty="0">
                <a:latin typeface="Garamond" panose="02020404030301010803" pitchFamily="18" charset="0"/>
                <a:cs typeface="Times New Roman" pitchFamily="18" charset="0"/>
              </a:rPr>
              <a:t>Department of Computer Science Engineering(AIML)</a:t>
            </a:r>
          </a:p>
        </p:txBody>
      </p:sp>
    </p:spTree>
    <p:extLst>
      <p:ext uri="{BB962C8B-B14F-4D97-AF65-F5344CB8AC3E}">
        <p14:creationId xmlns:p14="http://schemas.microsoft.com/office/powerpoint/2010/main" val="36557362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76DE54B-BF47-723F-C6C1-13095075F1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58B3AD-D297-1047-9FAD-E399140930C8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10" name="Rectangle 9"/>
          <p:cNvSpPr/>
          <p:nvPr/>
        </p:nvSpPr>
        <p:spPr>
          <a:xfrm>
            <a:off x="0" y="736600"/>
            <a:ext cx="2133600" cy="6121400"/>
          </a:xfrm>
          <a:prstGeom prst="rect">
            <a:avLst/>
          </a:prstGeom>
          <a:solidFill>
            <a:schemeClr val="accent2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109454" tIns="54727" rIns="109454" bIns="54727" anchor="ctr"/>
          <a:lstStyle/>
          <a:p>
            <a:pPr algn="ctr"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173D117-F69F-2C28-6919-6F07CC144FD4}"/>
              </a:ext>
            </a:extLst>
          </p:cNvPr>
          <p:cNvSpPr/>
          <p:nvPr/>
        </p:nvSpPr>
        <p:spPr>
          <a:xfrm>
            <a:off x="2133600" y="0"/>
            <a:ext cx="10058400" cy="736600"/>
          </a:xfrm>
          <a:prstGeom prst="rect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latin typeface="Garamond" panose="02020404030301010803" pitchFamily="18" charset="0"/>
                <a:cs typeface="Times New Roman" pitchFamily="18" charset="0"/>
              </a:rPr>
              <a:t>LITERATURE SURVEY (at least 10-15 papers)</a:t>
            </a:r>
            <a:endParaRPr lang="en-US" sz="2800" dirty="0">
              <a:latin typeface="Garamond" panose="02020404030301010803" pitchFamily="18" charset="0"/>
            </a:endParaRP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1A3089F5-3302-4ADF-A49E-035F33BA2EF6}"/>
              </a:ext>
            </a:extLst>
          </p:cNvPr>
          <p:cNvGraphicFramePr>
            <a:graphicFrameLocks noGrp="1"/>
          </p:cNvGraphicFramePr>
          <p:nvPr/>
        </p:nvGraphicFramePr>
        <p:xfrm>
          <a:off x="2266681" y="1289826"/>
          <a:ext cx="9925319" cy="47244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35897">
                  <a:extLst>
                    <a:ext uri="{9D8B030D-6E8A-4147-A177-3AD203B41FA5}">
                      <a16:colId xmlns:a16="http://schemas.microsoft.com/office/drawing/2014/main" val="619600454"/>
                    </a:ext>
                  </a:extLst>
                </a:gridCol>
                <a:gridCol w="1030328">
                  <a:extLst>
                    <a:ext uri="{9D8B030D-6E8A-4147-A177-3AD203B41FA5}">
                      <a16:colId xmlns:a16="http://schemas.microsoft.com/office/drawing/2014/main" val="2493005940"/>
                    </a:ext>
                  </a:extLst>
                </a:gridCol>
                <a:gridCol w="1030328">
                  <a:extLst>
                    <a:ext uri="{9D8B030D-6E8A-4147-A177-3AD203B41FA5}">
                      <a16:colId xmlns:a16="http://schemas.microsoft.com/office/drawing/2014/main" val="3633730045"/>
                    </a:ext>
                  </a:extLst>
                </a:gridCol>
                <a:gridCol w="1030328">
                  <a:extLst>
                    <a:ext uri="{9D8B030D-6E8A-4147-A177-3AD203B41FA5}">
                      <a16:colId xmlns:a16="http://schemas.microsoft.com/office/drawing/2014/main" val="4135978903"/>
                    </a:ext>
                  </a:extLst>
                </a:gridCol>
                <a:gridCol w="1766928">
                  <a:extLst>
                    <a:ext uri="{9D8B030D-6E8A-4147-A177-3AD203B41FA5}">
                      <a16:colId xmlns:a16="http://schemas.microsoft.com/office/drawing/2014/main" val="2394670440"/>
                    </a:ext>
                  </a:extLst>
                </a:gridCol>
                <a:gridCol w="1088031">
                  <a:extLst>
                    <a:ext uri="{9D8B030D-6E8A-4147-A177-3AD203B41FA5}">
                      <a16:colId xmlns:a16="http://schemas.microsoft.com/office/drawing/2014/main" val="2065399018"/>
                    </a:ext>
                  </a:extLst>
                </a:gridCol>
                <a:gridCol w="867225">
                  <a:extLst>
                    <a:ext uri="{9D8B030D-6E8A-4147-A177-3AD203B41FA5}">
                      <a16:colId xmlns:a16="http://schemas.microsoft.com/office/drawing/2014/main" val="2966044764"/>
                    </a:ext>
                  </a:extLst>
                </a:gridCol>
                <a:gridCol w="809071">
                  <a:extLst>
                    <a:ext uri="{9D8B030D-6E8A-4147-A177-3AD203B41FA5}">
                      <a16:colId xmlns:a16="http://schemas.microsoft.com/office/drawing/2014/main" val="1579613687"/>
                    </a:ext>
                  </a:extLst>
                </a:gridCol>
                <a:gridCol w="876496">
                  <a:extLst>
                    <a:ext uri="{9D8B030D-6E8A-4147-A177-3AD203B41FA5}">
                      <a16:colId xmlns:a16="http://schemas.microsoft.com/office/drawing/2014/main" val="3568166840"/>
                    </a:ext>
                  </a:extLst>
                </a:gridCol>
                <a:gridCol w="890687">
                  <a:extLst>
                    <a:ext uri="{9D8B030D-6E8A-4147-A177-3AD203B41FA5}">
                      <a16:colId xmlns:a16="http://schemas.microsoft.com/office/drawing/2014/main" val="2616531622"/>
                    </a:ext>
                  </a:extLst>
                </a:gridCol>
              </a:tblGrid>
              <a:tr h="882336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S. No</a:t>
                      </a:r>
                    </a:p>
                  </a:txBody>
                  <a:tcPr marL="52899" marR="52899" marT="0" marB="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dirty="0">
                          <a:effectLst/>
                        </a:rPr>
                        <a:t>Date</a:t>
                      </a:r>
                      <a:endParaRPr lang="en-US" sz="1400" b="1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2899" marR="52899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Year</a:t>
                      </a:r>
                    </a:p>
                  </a:txBody>
                  <a:tcPr marL="52899" marR="52899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effectLst/>
                        </a:rPr>
                        <a:t>Author</a:t>
                      </a: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2899" marR="52899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Title</a:t>
                      </a:r>
                    </a:p>
                  </a:txBody>
                  <a:tcPr marL="52899" marR="52899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Paper</a:t>
                      </a: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Published in</a:t>
                      </a: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(Journal Name..)</a:t>
                      </a:r>
                    </a:p>
                  </a:txBody>
                  <a:tcPr marL="52899" marR="52899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effectLst/>
                        </a:rPr>
                        <a:t>Conceptual </a:t>
                      </a: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effectLst/>
                        </a:rPr>
                        <a:t>Framework</a:t>
                      </a:r>
                      <a:endParaRPr lang="en-US" sz="1400" b="1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2899" marR="52899" marT="0" marB="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dirty="0">
                          <a:effectLst/>
                        </a:rPr>
                        <a:t>Methodology</a:t>
                      </a:r>
                      <a:endParaRPr lang="en-US" sz="1400" b="1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2899" marR="52899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effectLst/>
                        </a:rPr>
                        <a:t>Conclusion</a:t>
                      </a:r>
                      <a:endParaRPr lang="en-US" sz="900" b="1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2899" marR="52899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effectLst/>
                        </a:rPr>
                        <a:t>Future research</a:t>
                      </a:r>
                      <a:endParaRPr lang="en-US" sz="1400" b="1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2899" marR="52899" marT="0" marB="0"/>
                </a:tc>
                <a:extLst>
                  <a:ext uri="{0D108BD9-81ED-4DB2-BD59-A6C34878D82A}">
                    <a16:rowId xmlns:a16="http://schemas.microsoft.com/office/drawing/2014/main" val="4146508115"/>
                  </a:ext>
                </a:extLst>
              </a:tr>
              <a:tr h="3025153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r>
                        <a:rPr lang="en-US" sz="1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</a:t>
                      </a:r>
                      <a:endParaRPr lang="en-US" sz="1200" b="1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2899" marR="52899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 </a:t>
                      </a: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200" b="0" i="0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200" b="0" i="0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10 February 2020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2899" marR="52899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2019</a:t>
                      </a:r>
                    </a:p>
                  </a:txBody>
                  <a:tcPr marL="52899" marR="52899" marT="0" marB="0"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  <a:p>
                      <a:endParaRPr lang="en-US" sz="1200" b="0" i="0" u="sng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  <a:hlinkClick r:id="rId2"/>
                      </a:endParaRPr>
                    </a:p>
                    <a:p>
                      <a:endParaRPr lang="en-US" sz="1200" b="0" i="0" u="sng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  <a:hlinkClick r:id="rId2"/>
                      </a:endParaRPr>
                    </a:p>
                    <a:p>
                      <a:r>
                        <a:rPr lang="en-US" sz="1200" b="0" i="0" u="sng" kern="1200" dirty="0" err="1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hlinkClick r:id="rId2"/>
                        </a:rPr>
                        <a:t>Tejonidhi</a:t>
                      </a:r>
                      <a:r>
                        <a:rPr lang="en-US" sz="1200" b="0" i="0" u="sng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hlinkClick r:id="rId2"/>
                        </a:rPr>
                        <a:t> M R</a:t>
                      </a:r>
                      <a:endParaRPr lang="en-US" sz="1200" b="0" i="0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r>
                        <a:rPr lang="en-US" sz="1200" b="0" i="0" u="none" strike="noStrike" kern="1200" dirty="0" err="1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Malnad</a:t>
                      </a:r>
                      <a:r>
                        <a:rPr lang="en-US" sz="12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College of Engineering, Hassan</a:t>
                      </a:r>
                    </a:p>
                    <a:p>
                      <a:r>
                        <a:rPr lang="en-US" sz="12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; </a:t>
                      </a:r>
                      <a:r>
                        <a:rPr lang="en-US" sz="12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hlinkClick r:id="rId3"/>
                        </a:rPr>
                        <a:t>Sunitha M R</a:t>
                      </a:r>
                      <a:r>
                        <a:rPr lang="en-US" sz="12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; </a:t>
                      </a:r>
                      <a:r>
                        <a:rPr lang="en-US" sz="12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hlinkClick r:id="rId4"/>
                        </a:rPr>
                        <a:t>Swathi H Y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2899" marR="52899" marT="0" marB="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1" i="0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1" i="0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1" i="0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 Survey on IOT-Middleware and Image Processing</a:t>
                      </a: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2899" marR="52899" marT="0" marB="0"/>
                </a:tc>
                <a:tc>
                  <a:txBody>
                    <a:bodyPr/>
                    <a:lstStyle/>
                    <a:p>
                      <a:endParaRPr lang="en-US" sz="1200" b="1" i="0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endParaRPr lang="en-US" sz="1200" b="1" i="0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endParaRPr lang="en-US" sz="1200" b="1" i="0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r>
                        <a:rPr lang="en-US" sz="1200" b="1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Date Added to IEEE </a:t>
                      </a:r>
                      <a:r>
                        <a:rPr lang="en-US" sz="1200" b="1" i="1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Xplore</a:t>
                      </a:r>
                      <a:r>
                        <a:rPr lang="en-US" sz="1200" b="1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: </a:t>
                      </a:r>
                      <a:r>
                        <a:rPr lang="en-US" sz="12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10 February 2020</a:t>
                      </a:r>
                    </a:p>
                    <a:p>
                      <a:r>
                        <a:rPr lang="en-US" sz="1200" b="1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ISBN Information:</a:t>
                      </a:r>
                      <a:endParaRPr lang="en-US" sz="1200" b="0" i="0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r>
                        <a:rPr lang="en-US" sz="1200" b="1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INSPEC Accession Number: </a:t>
                      </a:r>
                      <a:r>
                        <a:rPr lang="en-US" sz="12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19352715</a:t>
                      </a:r>
                    </a:p>
                    <a:p>
                      <a:r>
                        <a:rPr lang="en-US" sz="1200" b="1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DOI: </a:t>
                      </a:r>
                      <a:r>
                        <a:rPr lang="en-US" sz="12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hlinkClick r:id="rId5"/>
                        </a:rPr>
                        <a:t>10.1109/ICAIT47043.2019.8987264</a:t>
                      </a:r>
                      <a:endParaRPr lang="en-US" sz="1200" b="0" i="0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r>
                        <a:rPr lang="en-US" sz="1200" b="1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Publisher: </a:t>
                      </a:r>
                      <a:r>
                        <a:rPr lang="en-US" sz="12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IEEE</a:t>
                      </a: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2899" marR="52899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 </a:t>
                      </a: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2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2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I.O.T &amp;</a:t>
                      </a: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IMAGE PROC.</a:t>
                      </a: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2899" marR="52899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It </a:t>
                      </a:r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discussed different techniques used for different applications in image processing for agriculture, traffic management, and medical imaging and industrial applications.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2899" marR="52899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D</a:t>
                      </a:r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eveloped a middleware that uses image processing techniques to enhance automation.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2899" marR="52899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S</a:t>
                      </a:r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ome issues such as interoperability, scalability, security and privacy, energy efficient systems remain unsolved thus leaving a scope for research in this area.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2899" marR="52899" marT="0" marB="0"/>
                </a:tc>
                <a:extLst>
                  <a:ext uri="{0D108BD9-81ED-4DB2-BD59-A6C34878D82A}">
                    <a16:rowId xmlns:a16="http://schemas.microsoft.com/office/drawing/2014/main" val="1645153703"/>
                  </a:ext>
                </a:extLst>
              </a:tr>
            </a:tbl>
          </a:graphicData>
        </a:graphic>
      </p:graphicFrame>
      <p:sp>
        <p:nvSpPr>
          <p:cNvPr id="11" name="Footer Placeholder 6">
            <a:extLst>
              <a:ext uri="{FF2B5EF4-FFF2-40B4-BE49-F238E27FC236}">
                <a16:creationId xmlns:a16="http://schemas.microsoft.com/office/drawing/2014/main" id="{67827F24-4E05-D3AB-1EA8-C2892DB07D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452209" y="6576293"/>
            <a:ext cx="6618891" cy="210666"/>
          </a:xfrm>
        </p:spPr>
        <p:txBody>
          <a:bodyPr/>
          <a:lstStyle/>
          <a:p>
            <a:pPr>
              <a:defRPr/>
            </a:pPr>
            <a:r>
              <a:rPr lang="en-US" b="1" i="1" dirty="0">
                <a:latin typeface="Garamond" panose="02020404030301010803" pitchFamily="18" charset="0"/>
                <a:cs typeface="Times New Roman" pitchFamily="18" charset="0"/>
              </a:rPr>
              <a:t>Department of Computer Science Engineering(AIML)</a:t>
            </a:r>
          </a:p>
        </p:txBody>
      </p:sp>
    </p:spTree>
    <p:extLst>
      <p:ext uri="{BB962C8B-B14F-4D97-AF65-F5344CB8AC3E}">
        <p14:creationId xmlns:p14="http://schemas.microsoft.com/office/powerpoint/2010/main" val="1469993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76DE54B-BF47-723F-C6C1-13095075F1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58B3AD-D297-1047-9FAD-E399140930C8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10" name="Rectangle 9"/>
          <p:cNvSpPr/>
          <p:nvPr/>
        </p:nvSpPr>
        <p:spPr>
          <a:xfrm>
            <a:off x="0" y="736600"/>
            <a:ext cx="2133600" cy="6121400"/>
          </a:xfrm>
          <a:prstGeom prst="rect">
            <a:avLst/>
          </a:prstGeom>
          <a:solidFill>
            <a:schemeClr val="accent2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109454" tIns="54727" rIns="109454" bIns="54727" anchor="ctr"/>
          <a:lstStyle/>
          <a:p>
            <a:pPr algn="ctr"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173D117-F69F-2C28-6919-6F07CC144FD4}"/>
              </a:ext>
            </a:extLst>
          </p:cNvPr>
          <p:cNvSpPr/>
          <p:nvPr/>
        </p:nvSpPr>
        <p:spPr>
          <a:xfrm>
            <a:off x="2133600" y="0"/>
            <a:ext cx="10058400" cy="736600"/>
          </a:xfrm>
          <a:prstGeom prst="rect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latin typeface="Garamond" panose="02020404030301010803" pitchFamily="18" charset="0"/>
                <a:cs typeface="Times New Roman" pitchFamily="18" charset="0"/>
              </a:rPr>
              <a:t>EXISTING SYSTEM/RELATED WORK</a:t>
            </a:r>
            <a:endParaRPr lang="en-US" sz="2800" dirty="0">
              <a:latin typeface="Garamond" panose="02020404030301010803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2611928" y="2070827"/>
            <a:ext cx="8299451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What is the base work at present from where you started the Project ? What are the other related tools &amp; Technology which the project deals with.</a:t>
            </a:r>
            <a:endParaRPr lang="en-IN" sz="2800" dirty="0"/>
          </a:p>
        </p:txBody>
      </p:sp>
      <p:sp>
        <p:nvSpPr>
          <p:cNvPr id="8" name="Footer Placeholder 6">
            <a:extLst>
              <a:ext uri="{FF2B5EF4-FFF2-40B4-BE49-F238E27FC236}">
                <a16:creationId xmlns:a16="http://schemas.microsoft.com/office/drawing/2014/main" id="{67827F24-4E05-D3AB-1EA8-C2892DB07D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452209" y="6576293"/>
            <a:ext cx="6618891" cy="210666"/>
          </a:xfrm>
        </p:spPr>
        <p:txBody>
          <a:bodyPr/>
          <a:lstStyle/>
          <a:p>
            <a:pPr>
              <a:defRPr/>
            </a:pPr>
            <a:r>
              <a:rPr lang="en-US" b="1" i="1" dirty="0">
                <a:latin typeface="Garamond" panose="02020404030301010803" pitchFamily="18" charset="0"/>
                <a:cs typeface="Times New Roman" pitchFamily="18" charset="0"/>
              </a:rPr>
              <a:t>Department of Computer Science Engineering(AIML)</a:t>
            </a:r>
          </a:p>
        </p:txBody>
      </p:sp>
    </p:spTree>
    <p:extLst>
      <p:ext uri="{BB962C8B-B14F-4D97-AF65-F5344CB8AC3E}">
        <p14:creationId xmlns:p14="http://schemas.microsoft.com/office/powerpoint/2010/main" val="21249765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76DE54B-BF47-723F-C6C1-13095075F1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58B3AD-D297-1047-9FAD-E399140930C8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10" name="Rectangle 9"/>
          <p:cNvSpPr/>
          <p:nvPr/>
        </p:nvSpPr>
        <p:spPr>
          <a:xfrm>
            <a:off x="0" y="736600"/>
            <a:ext cx="2133600" cy="6121400"/>
          </a:xfrm>
          <a:prstGeom prst="rect">
            <a:avLst/>
          </a:prstGeom>
          <a:solidFill>
            <a:schemeClr val="accent2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109454" tIns="54727" rIns="109454" bIns="54727" anchor="ctr"/>
          <a:lstStyle/>
          <a:p>
            <a:pPr algn="ctr"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173D117-F69F-2C28-6919-6F07CC144FD4}"/>
              </a:ext>
            </a:extLst>
          </p:cNvPr>
          <p:cNvSpPr/>
          <p:nvPr/>
        </p:nvSpPr>
        <p:spPr>
          <a:xfrm>
            <a:off x="2133600" y="0"/>
            <a:ext cx="10058400" cy="736600"/>
          </a:xfrm>
          <a:prstGeom prst="rect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latin typeface="Garamond" panose="02020404030301010803" pitchFamily="18" charset="0"/>
              </a:rPr>
              <a:t>MOTIVATION</a:t>
            </a:r>
          </a:p>
        </p:txBody>
      </p:sp>
      <p:sp>
        <p:nvSpPr>
          <p:cNvPr id="8" name="Footer Placeholder 6">
            <a:extLst>
              <a:ext uri="{FF2B5EF4-FFF2-40B4-BE49-F238E27FC236}">
                <a16:creationId xmlns:a16="http://schemas.microsoft.com/office/drawing/2014/main" id="{67827F24-4E05-D3AB-1EA8-C2892DB07D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452209" y="6576293"/>
            <a:ext cx="6618891" cy="210666"/>
          </a:xfrm>
        </p:spPr>
        <p:txBody>
          <a:bodyPr/>
          <a:lstStyle/>
          <a:p>
            <a:pPr>
              <a:defRPr/>
            </a:pPr>
            <a:r>
              <a:rPr lang="en-US" b="1" i="1" dirty="0">
                <a:latin typeface="Garamond" panose="02020404030301010803" pitchFamily="18" charset="0"/>
                <a:cs typeface="Times New Roman" pitchFamily="18" charset="0"/>
              </a:rPr>
              <a:t>Department of Computer Science Engineering(AIML)</a:t>
            </a:r>
          </a:p>
        </p:txBody>
      </p:sp>
    </p:spTree>
    <p:extLst>
      <p:ext uri="{BB962C8B-B14F-4D97-AF65-F5344CB8AC3E}">
        <p14:creationId xmlns:p14="http://schemas.microsoft.com/office/powerpoint/2010/main" val="36753883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4C8131-228B-589C-3B5E-6AA2AAA777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AF59AC0-31A3-6276-CCFC-D32568EB7C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58B3AD-D297-1047-9FAD-E399140930C8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30100C7-43F8-3759-E177-D2734D35EEA7}"/>
              </a:ext>
            </a:extLst>
          </p:cNvPr>
          <p:cNvSpPr/>
          <p:nvPr/>
        </p:nvSpPr>
        <p:spPr>
          <a:xfrm>
            <a:off x="0" y="736600"/>
            <a:ext cx="2133600" cy="6121400"/>
          </a:xfrm>
          <a:prstGeom prst="rect">
            <a:avLst/>
          </a:prstGeom>
          <a:solidFill>
            <a:schemeClr val="accent2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109454" tIns="54727" rIns="109454" bIns="54727" anchor="ctr"/>
          <a:lstStyle/>
          <a:p>
            <a:pPr algn="ctr"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6B3A789-4FE2-96FC-020B-48BCAAA0F711}"/>
              </a:ext>
            </a:extLst>
          </p:cNvPr>
          <p:cNvSpPr/>
          <p:nvPr/>
        </p:nvSpPr>
        <p:spPr>
          <a:xfrm>
            <a:off x="2133600" y="0"/>
            <a:ext cx="10058400" cy="736600"/>
          </a:xfrm>
          <a:prstGeom prst="rect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latin typeface="Garamond" panose="02020404030301010803" pitchFamily="18" charset="0"/>
              </a:rPr>
              <a:t>PROBLEM STATEMENT</a:t>
            </a:r>
          </a:p>
        </p:txBody>
      </p:sp>
      <p:sp>
        <p:nvSpPr>
          <p:cNvPr id="8" name="Footer Placeholder 6">
            <a:extLst>
              <a:ext uri="{FF2B5EF4-FFF2-40B4-BE49-F238E27FC236}">
                <a16:creationId xmlns:a16="http://schemas.microsoft.com/office/drawing/2014/main" id="{C30B6745-4EF8-9B09-86CB-E5F4B8C6EB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452209" y="6576293"/>
            <a:ext cx="6618891" cy="210666"/>
          </a:xfrm>
        </p:spPr>
        <p:txBody>
          <a:bodyPr/>
          <a:lstStyle/>
          <a:p>
            <a:pPr>
              <a:defRPr/>
            </a:pPr>
            <a:r>
              <a:rPr lang="en-US" b="1" i="1" dirty="0">
                <a:latin typeface="Garamond" panose="02020404030301010803" pitchFamily="18" charset="0"/>
                <a:cs typeface="Times New Roman" pitchFamily="18" charset="0"/>
              </a:rPr>
              <a:t>Department of Computer Science Engineering(AIML)</a:t>
            </a:r>
          </a:p>
        </p:txBody>
      </p:sp>
    </p:spTree>
    <p:extLst>
      <p:ext uri="{BB962C8B-B14F-4D97-AF65-F5344CB8AC3E}">
        <p14:creationId xmlns:p14="http://schemas.microsoft.com/office/powerpoint/2010/main" val="14022194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76DE54B-BF47-723F-C6C1-13095075F1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58B3AD-D297-1047-9FAD-E399140930C8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10" name="Rectangle 9"/>
          <p:cNvSpPr/>
          <p:nvPr/>
        </p:nvSpPr>
        <p:spPr>
          <a:xfrm>
            <a:off x="0" y="736600"/>
            <a:ext cx="2133600" cy="6121400"/>
          </a:xfrm>
          <a:prstGeom prst="rect">
            <a:avLst/>
          </a:prstGeom>
          <a:solidFill>
            <a:schemeClr val="accent2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109454" tIns="54727" rIns="109454" bIns="54727" anchor="ctr"/>
          <a:lstStyle/>
          <a:p>
            <a:pPr algn="ctr"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173D117-F69F-2C28-6919-6F07CC144FD4}"/>
              </a:ext>
            </a:extLst>
          </p:cNvPr>
          <p:cNvSpPr/>
          <p:nvPr/>
        </p:nvSpPr>
        <p:spPr>
          <a:xfrm>
            <a:off x="2133600" y="0"/>
            <a:ext cx="10058400" cy="736600"/>
          </a:xfrm>
          <a:prstGeom prst="rect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latin typeface="Garamond" panose="02020404030301010803" pitchFamily="18" charset="0"/>
                <a:cs typeface="Times New Roman" pitchFamily="18" charset="0"/>
              </a:rPr>
              <a:t>OBECTIVES</a:t>
            </a:r>
            <a:endParaRPr lang="en-US" sz="2800" dirty="0">
              <a:latin typeface="Garamond" panose="02020404030301010803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2611928" y="2070827"/>
            <a:ext cx="8299451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Clearly Mention about what the project does, what modules you will cover. How many challenges are solved how many are still left.</a:t>
            </a:r>
            <a:endParaRPr lang="en-IN" sz="2800" dirty="0"/>
          </a:p>
        </p:txBody>
      </p:sp>
      <p:sp>
        <p:nvSpPr>
          <p:cNvPr id="8" name="Footer Placeholder 6">
            <a:extLst>
              <a:ext uri="{FF2B5EF4-FFF2-40B4-BE49-F238E27FC236}">
                <a16:creationId xmlns:a16="http://schemas.microsoft.com/office/drawing/2014/main" id="{67827F24-4E05-D3AB-1EA8-C2892DB07D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452209" y="6576293"/>
            <a:ext cx="6618891" cy="210666"/>
          </a:xfrm>
        </p:spPr>
        <p:txBody>
          <a:bodyPr/>
          <a:lstStyle/>
          <a:p>
            <a:pPr>
              <a:defRPr/>
            </a:pPr>
            <a:r>
              <a:rPr lang="en-US" b="1" i="1" dirty="0">
                <a:latin typeface="Garamond" panose="02020404030301010803" pitchFamily="18" charset="0"/>
                <a:cs typeface="Times New Roman" pitchFamily="18" charset="0"/>
              </a:rPr>
              <a:t>Department of Computer Science Engineering(AIML)</a:t>
            </a:r>
          </a:p>
        </p:txBody>
      </p:sp>
    </p:spTree>
    <p:extLst>
      <p:ext uri="{BB962C8B-B14F-4D97-AF65-F5344CB8AC3E}">
        <p14:creationId xmlns:p14="http://schemas.microsoft.com/office/powerpoint/2010/main" val="41068135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76DE54B-BF47-723F-C6C1-13095075F1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58B3AD-D297-1047-9FAD-E399140930C8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10" name="Rectangle 9"/>
          <p:cNvSpPr/>
          <p:nvPr/>
        </p:nvSpPr>
        <p:spPr>
          <a:xfrm>
            <a:off x="0" y="736600"/>
            <a:ext cx="2133600" cy="6121400"/>
          </a:xfrm>
          <a:prstGeom prst="rect">
            <a:avLst/>
          </a:prstGeom>
          <a:solidFill>
            <a:schemeClr val="accent2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109454" tIns="54727" rIns="109454" bIns="54727" anchor="ctr"/>
          <a:lstStyle/>
          <a:p>
            <a:pPr algn="ctr"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173D117-F69F-2C28-6919-6F07CC144FD4}"/>
              </a:ext>
            </a:extLst>
          </p:cNvPr>
          <p:cNvSpPr/>
          <p:nvPr/>
        </p:nvSpPr>
        <p:spPr>
          <a:xfrm>
            <a:off x="2133600" y="0"/>
            <a:ext cx="10058400" cy="736600"/>
          </a:xfrm>
          <a:prstGeom prst="rect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latin typeface="Garamond" panose="02020404030301010803" pitchFamily="18" charset="0"/>
                <a:cs typeface="Times New Roman" pitchFamily="18" charset="0"/>
              </a:rPr>
              <a:t>PROPOSED METHODOLOGY</a:t>
            </a:r>
            <a:endParaRPr lang="en-US" sz="2800" dirty="0">
              <a:latin typeface="Garamond" panose="02020404030301010803" pitchFamily="18" charset="0"/>
            </a:endParaRPr>
          </a:p>
        </p:txBody>
      </p:sp>
      <p:sp>
        <p:nvSpPr>
          <p:cNvPr id="8" name="Footer Placeholder 6">
            <a:extLst>
              <a:ext uri="{FF2B5EF4-FFF2-40B4-BE49-F238E27FC236}">
                <a16:creationId xmlns:a16="http://schemas.microsoft.com/office/drawing/2014/main" id="{67827F24-4E05-D3AB-1EA8-C2892DB07D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452209" y="6576293"/>
            <a:ext cx="6618891" cy="210666"/>
          </a:xfrm>
        </p:spPr>
        <p:txBody>
          <a:bodyPr/>
          <a:lstStyle/>
          <a:p>
            <a:pPr>
              <a:defRPr/>
            </a:pPr>
            <a:r>
              <a:rPr lang="en-US" b="1" i="1" dirty="0">
                <a:latin typeface="Garamond" panose="02020404030301010803" pitchFamily="18" charset="0"/>
                <a:cs typeface="Times New Roman" pitchFamily="18" charset="0"/>
              </a:rPr>
              <a:t>Department of Computer Science Engineering(AIML)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50424" y="2567121"/>
            <a:ext cx="502524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Write your clear methodology in steps. </a:t>
            </a: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17717594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76DE54B-BF47-723F-C6C1-13095075F1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58B3AD-D297-1047-9FAD-E399140930C8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10" name="Rectangle 9"/>
          <p:cNvSpPr/>
          <p:nvPr/>
        </p:nvSpPr>
        <p:spPr>
          <a:xfrm>
            <a:off x="0" y="736600"/>
            <a:ext cx="2133600" cy="6121400"/>
          </a:xfrm>
          <a:prstGeom prst="rect">
            <a:avLst/>
          </a:prstGeom>
          <a:solidFill>
            <a:schemeClr val="accent2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109454" tIns="54727" rIns="109454" bIns="54727" anchor="ctr"/>
          <a:lstStyle/>
          <a:p>
            <a:pPr algn="ctr"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173D117-F69F-2C28-6919-6F07CC144FD4}"/>
              </a:ext>
            </a:extLst>
          </p:cNvPr>
          <p:cNvSpPr/>
          <p:nvPr/>
        </p:nvSpPr>
        <p:spPr>
          <a:xfrm>
            <a:off x="2133600" y="0"/>
            <a:ext cx="10058400" cy="736600"/>
          </a:xfrm>
          <a:prstGeom prst="rect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latin typeface="Garamond" panose="02020404030301010803" pitchFamily="18" charset="0"/>
                <a:cs typeface="Times New Roman" pitchFamily="18" charset="0"/>
              </a:rPr>
              <a:t>DESCRIPTION OF PROJECT (In Form Of Diagram)</a:t>
            </a:r>
            <a:endParaRPr lang="en-US" sz="2800" dirty="0">
              <a:latin typeface="Garamond" panose="02020404030301010803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794497" y="1341266"/>
            <a:ext cx="193431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BASE WORK</a:t>
            </a:r>
            <a:endParaRPr lang="en-IN" sz="2800" dirty="0"/>
          </a:p>
        </p:txBody>
      </p:sp>
      <p:sp>
        <p:nvSpPr>
          <p:cNvPr id="8" name="TextBox 7"/>
          <p:cNvSpPr txBox="1"/>
          <p:nvPr/>
        </p:nvSpPr>
        <p:spPr>
          <a:xfrm>
            <a:off x="4650424" y="2567121"/>
            <a:ext cx="502524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MENTION THE MODIFICATIONS</a:t>
            </a:r>
            <a:endParaRPr lang="en-IN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5446022" y="3797300"/>
            <a:ext cx="314344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EXPECTED RESULT</a:t>
            </a:r>
            <a:endParaRPr lang="en-IN" sz="2800" dirty="0"/>
          </a:p>
        </p:txBody>
      </p:sp>
      <p:sp>
        <p:nvSpPr>
          <p:cNvPr id="13" name="TextBox 12"/>
          <p:cNvSpPr txBox="1"/>
          <p:nvPr/>
        </p:nvSpPr>
        <p:spPr>
          <a:xfrm>
            <a:off x="5794497" y="5003057"/>
            <a:ext cx="226767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CONCLUSION</a:t>
            </a:r>
            <a:endParaRPr lang="en-IN" sz="2800" dirty="0"/>
          </a:p>
        </p:txBody>
      </p:sp>
      <p:sp>
        <p:nvSpPr>
          <p:cNvPr id="2" name="Down Arrow 1"/>
          <p:cNvSpPr/>
          <p:nvPr/>
        </p:nvSpPr>
        <p:spPr>
          <a:xfrm>
            <a:off x="6672248" y="1925834"/>
            <a:ext cx="256088" cy="46366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Down Arrow 13"/>
          <p:cNvSpPr/>
          <p:nvPr/>
        </p:nvSpPr>
        <p:spPr>
          <a:xfrm>
            <a:off x="6692716" y="4520626"/>
            <a:ext cx="256088" cy="46366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Down Arrow 14"/>
          <p:cNvSpPr/>
          <p:nvPr/>
        </p:nvSpPr>
        <p:spPr>
          <a:xfrm>
            <a:off x="6668202" y="3160910"/>
            <a:ext cx="256088" cy="46366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Footer Placeholder 6">
            <a:extLst>
              <a:ext uri="{FF2B5EF4-FFF2-40B4-BE49-F238E27FC236}">
                <a16:creationId xmlns:a16="http://schemas.microsoft.com/office/drawing/2014/main" id="{67827F24-4E05-D3AB-1EA8-C2892DB07D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452209" y="6576293"/>
            <a:ext cx="6618891" cy="210666"/>
          </a:xfrm>
        </p:spPr>
        <p:txBody>
          <a:bodyPr/>
          <a:lstStyle/>
          <a:p>
            <a:pPr>
              <a:defRPr/>
            </a:pPr>
            <a:r>
              <a:rPr lang="en-US" b="1" i="1" dirty="0">
                <a:latin typeface="Garamond" panose="02020404030301010803" pitchFamily="18" charset="0"/>
                <a:cs typeface="Times New Roman" pitchFamily="18" charset="0"/>
              </a:rPr>
              <a:t>Department of Computer Science Engineering(AIML)</a:t>
            </a:r>
          </a:p>
        </p:txBody>
      </p:sp>
    </p:spTree>
    <p:extLst>
      <p:ext uri="{BB962C8B-B14F-4D97-AF65-F5344CB8AC3E}">
        <p14:creationId xmlns:p14="http://schemas.microsoft.com/office/powerpoint/2010/main" val="231122125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76DE54B-BF47-723F-C6C1-13095075F1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58B3AD-D297-1047-9FAD-E399140930C8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10" name="Rectangle 9"/>
          <p:cNvSpPr/>
          <p:nvPr/>
        </p:nvSpPr>
        <p:spPr>
          <a:xfrm>
            <a:off x="0" y="736600"/>
            <a:ext cx="2133600" cy="6121400"/>
          </a:xfrm>
          <a:prstGeom prst="rect">
            <a:avLst/>
          </a:prstGeom>
          <a:solidFill>
            <a:schemeClr val="accent2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109454" tIns="54727" rIns="109454" bIns="54727" anchor="ctr"/>
          <a:lstStyle/>
          <a:p>
            <a:pPr algn="ctr"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173D117-F69F-2C28-6919-6F07CC144FD4}"/>
              </a:ext>
            </a:extLst>
          </p:cNvPr>
          <p:cNvSpPr/>
          <p:nvPr/>
        </p:nvSpPr>
        <p:spPr>
          <a:xfrm>
            <a:off x="2133600" y="0"/>
            <a:ext cx="10058400" cy="736600"/>
          </a:xfrm>
          <a:prstGeom prst="rect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latin typeface="Garamond" panose="02020404030301010803" pitchFamily="18" charset="0"/>
                <a:cs typeface="Times New Roman" pitchFamily="18" charset="0"/>
              </a:rPr>
              <a:t>HARDWARE &amp; SOFTWARE REQUIREMENTS</a:t>
            </a:r>
            <a:endParaRPr lang="en-US" sz="2800" dirty="0">
              <a:latin typeface="Garamond" panose="02020404030301010803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2611928" y="2070827"/>
            <a:ext cx="8299451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Mention the requirements of Hardware &amp; Software and clearly mention its specification.</a:t>
            </a:r>
            <a:endParaRPr lang="en-IN" sz="2800" dirty="0"/>
          </a:p>
        </p:txBody>
      </p:sp>
      <p:sp>
        <p:nvSpPr>
          <p:cNvPr id="8" name="Footer Placeholder 6">
            <a:extLst>
              <a:ext uri="{FF2B5EF4-FFF2-40B4-BE49-F238E27FC236}">
                <a16:creationId xmlns:a16="http://schemas.microsoft.com/office/drawing/2014/main" id="{67827F24-4E05-D3AB-1EA8-C2892DB07D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452209" y="6576293"/>
            <a:ext cx="6618891" cy="210666"/>
          </a:xfrm>
        </p:spPr>
        <p:txBody>
          <a:bodyPr/>
          <a:lstStyle/>
          <a:p>
            <a:pPr>
              <a:defRPr/>
            </a:pPr>
            <a:r>
              <a:rPr lang="en-US" b="1" i="1" dirty="0">
                <a:latin typeface="Garamond" panose="02020404030301010803" pitchFamily="18" charset="0"/>
                <a:cs typeface="Times New Roman" pitchFamily="18" charset="0"/>
              </a:rPr>
              <a:t>Department of Computer Science Engineering(AIML)</a:t>
            </a:r>
          </a:p>
        </p:txBody>
      </p:sp>
    </p:spTree>
    <p:extLst>
      <p:ext uri="{BB962C8B-B14F-4D97-AF65-F5344CB8AC3E}">
        <p14:creationId xmlns:p14="http://schemas.microsoft.com/office/powerpoint/2010/main" val="385601477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76DE54B-BF47-723F-C6C1-13095075F1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58B3AD-D297-1047-9FAD-E399140930C8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10" name="Rectangle 9"/>
          <p:cNvSpPr/>
          <p:nvPr/>
        </p:nvSpPr>
        <p:spPr>
          <a:xfrm>
            <a:off x="0" y="736600"/>
            <a:ext cx="2133600" cy="6121400"/>
          </a:xfrm>
          <a:prstGeom prst="rect">
            <a:avLst/>
          </a:prstGeom>
          <a:solidFill>
            <a:schemeClr val="accent2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109454" tIns="54727" rIns="109454" bIns="54727" anchor="ctr"/>
          <a:lstStyle/>
          <a:p>
            <a:pPr algn="ctr"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173D117-F69F-2C28-6919-6F07CC144FD4}"/>
              </a:ext>
            </a:extLst>
          </p:cNvPr>
          <p:cNvSpPr/>
          <p:nvPr/>
        </p:nvSpPr>
        <p:spPr>
          <a:xfrm>
            <a:off x="2133600" y="0"/>
            <a:ext cx="10058400" cy="736600"/>
          </a:xfrm>
          <a:prstGeom prst="rect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latin typeface="Garamond" panose="02020404030301010803" pitchFamily="18" charset="0"/>
                <a:cs typeface="Times New Roman" pitchFamily="18" charset="0"/>
              </a:rPr>
              <a:t>PROJECT DETAILS (Description Of Various Modules)</a:t>
            </a:r>
            <a:endParaRPr lang="en-US" sz="2800" dirty="0">
              <a:latin typeface="Garamond" panose="02020404030301010803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2485052" y="1379902"/>
            <a:ext cx="193431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MODULE 1 :</a:t>
            </a:r>
            <a:endParaRPr lang="en-IN" sz="2800" dirty="0"/>
          </a:p>
        </p:txBody>
      </p:sp>
      <p:sp>
        <p:nvSpPr>
          <p:cNvPr id="8" name="TextBox 7"/>
          <p:cNvSpPr txBox="1"/>
          <p:nvPr/>
        </p:nvSpPr>
        <p:spPr>
          <a:xfrm>
            <a:off x="2485052" y="2546424"/>
            <a:ext cx="193431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MODULE 2 :</a:t>
            </a:r>
            <a:endParaRPr lang="en-IN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2485052" y="3978098"/>
            <a:ext cx="204404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MODULE N :</a:t>
            </a:r>
            <a:endParaRPr lang="en-IN" sz="2800" dirty="0"/>
          </a:p>
        </p:txBody>
      </p:sp>
      <p:sp>
        <p:nvSpPr>
          <p:cNvPr id="13" name="Footer Placeholder 6">
            <a:extLst>
              <a:ext uri="{FF2B5EF4-FFF2-40B4-BE49-F238E27FC236}">
                <a16:creationId xmlns:a16="http://schemas.microsoft.com/office/drawing/2014/main" id="{67827F24-4E05-D3AB-1EA8-C2892DB07D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452209" y="6576293"/>
            <a:ext cx="6618891" cy="210666"/>
          </a:xfrm>
        </p:spPr>
        <p:txBody>
          <a:bodyPr/>
          <a:lstStyle/>
          <a:p>
            <a:pPr>
              <a:defRPr/>
            </a:pPr>
            <a:r>
              <a:rPr lang="en-US" b="1" i="1" dirty="0">
                <a:latin typeface="Garamond" panose="02020404030301010803" pitchFamily="18" charset="0"/>
                <a:cs typeface="Times New Roman" pitchFamily="18" charset="0"/>
              </a:rPr>
              <a:t>Department of Computer Science Engineering(AIML)</a:t>
            </a:r>
          </a:p>
        </p:txBody>
      </p:sp>
    </p:spTree>
    <p:extLst>
      <p:ext uri="{BB962C8B-B14F-4D97-AF65-F5344CB8AC3E}">
        <p14:creationId xmlns:p14="http://schemas.microsoft.com/office/powerpoint/2010/main" val="144319855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76DE54B-BF47-723F-C6C1-13095075F1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58B3AD-D297-1047-9FAD-E399140930C8}" type="slidenum">
              <a:rPr lang="en-US" smtClean="0"/>
              <a:pPr/>
              <a:t>12</a:t>
            </a:fld>
            <a:endParaRPr lang="en-US" dirty="0"/>
          </a:p>
        </p:txBody>
      </p:sp>
      <p:sp>
        <p:nvSpPr>
          <p:cNvPr id="10" name="Rectangle 9"/>
          <p:cNvSpPr/>
          <p:nvPr/>
        </p:nvSpPr>
        <p:spPr>
          <a:xfrm>
            <a:off x="0" y="736600"/>
            <a:ext cx="2133600" cy="6121400"/>
          </a:xfrm>
          <a:prstGeom prst="rect">
            <a:avLst/>
          </a:prstGeom>
          <a:solidFill>
            <a:schemeClr val="accent2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109454" tIns="54727" rIns="109454" bIns="54727" anchor="ctr"/>
          <a:lstStyle/>
          <a:p>
            <a:pPr algn="ctr"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173D117-F69F-2C28-6919-6F07CC144FD4}"/>
              </a:ext>
            </a:extLst>
          </p:cNvPr>
          <p:cNvSpPr/>
          <p:nvPr/>
        </p:nvSpPr>
        <p:spPr>
          <a:xfrm>
            <a:off x="2133600" y="0"/>
            <a:ext cx="10058400" cy="736600"/>
          </a:xfrm>
          <a:prstGeom prst="rect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latin typeface="Garamond" panose="02020404030301010803" pitchFamily="18" charset="0"/>
                <a:cs typeface="Times New Roman" pitchFamily="18" charset="0"/>
              </a:rPr>
              <a:t>PROJECT DETAILS (Description Of Various Modules)</a:t>
            </a:r>
            <a:endParaRPr lang="en-US" sz="2800" dirty="0">
              <a:latin typeface="Garamond" panose="02020404030301010803" pitchFamily="18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4451798" y="2794387"/>
            <a:ext cx="6096000" cy="52322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2800" dirty="0"/>
              <a:t>Explanation of all modules</a:t>
            </a:r>
            <a:endParaRPr lang="en-IN" sz="2800" dirty="0"/>
          </a:p>
        </p:txBody>
      </p:sp>
      <p:sp>
        <p:nvSpPr>
          <p:cNvPr id="8" name="Footer Placeholder 6">
            <a:extLst>
              <a:ext uri="{FF2B5EF4-FFF2-40B4-BE49-F238E27FC236}">
                <a16:creationId xmlns:a16="http://schemas.microsoft.com/office/drawing/2014/main" id="{67827F24-4E05-D3AB-1EA8-C2892DB07D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452209" y="6576293"/>
            <a:ext cx="6618891" cy="210666"/>
          </a:xfrm>
        </p:spPr>
        <p:txBody>
          <a:bodyPr/>
          <a:lstStyle/>
          <a:p>
            <a:pPr>
              <a:defRPr/>
            </a:pPr>
            <a:r>
              <a:rPr lang="en-US" b="1" i="1" dirty="0">
                <a:latin typeface="Garamond" panose="02020404030301010803" pitchFamily="18" charset="0"/>
                <a:cs typeface="Times New Roman" pitchFamily="18" charset="0"/>
              </a:rPr>
              <a:t>Department of Computer Science Engineering(AIML)</a:t>
            </a:r>
          </a:p>
        </p:txBody>
      </p:sp>
    </p:spTree>
    <p:extLst>
      <p:ext uri="{BB962C8B-B14F-4D97-AF65-F5344CB8AC3E}">
        <p14:creationId xmlns:p14="http://schemas.microsoft.com/office/powerpoint/2010/main" val="165067097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76DE54B-BF47-723F-C6C1-13095075F1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58B3AD-D297-1047-9FAD-E399140930C8}" type="slidenum">
              <a:rPr lang="en-US" smtClean="0"/>
              <a:pPr/>
              <a:t>13</a:t>
            </a:fld>
            <a:endParaRPr lang="en-US" dirty="0"/>
          </a:p>
        </p:txBody>
      </p:sp>
      <p:sp>
        <p:nvSpPr>
          <p:cNvPr id="10" name="Rectangle 9"/>
          <p:cNvSpPr/>
          <p:nvPr/>
        </p:nvSpPr>
        <p:spPr>
          <a:xfrm>
            <a:off x="0" y="736600"/>
            <a:ext cx="2133600" cy="6121400"/>
          </a:xfrm>
          <a:prstGeom prst="rect">
            <a:avLst/>
          </a:prstGeom>
          <a:solidFill>
            <a:schemeClr val="accent2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109454" tIns="54727" rIns="109454" bIns="54727" anchor="ctr"/>
          <a:lstStyle/>
          <a:p>
            <a:pPr algn="ctr"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173D117-F69F-2C28-6919-6F07CC144FD4}"/>
              </a:ext>
            </a:extLst>
          </p:cNvPr>
          <p:cNvSpPr/>
          <p:nvPr/>
        </p:nvSpPr>
        <p:spPr>
          <a:xfrm>
            <a:off x="2133600" y="0"/>
            <a:ext cx="10058400" cy="736600"/>
          </a:xfrm>
          <a:prstGeom prst="rect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latin typeface="Garamond" panose="02020404030301010803" pitchFamily="18" charset="0"/>
                <a:cs typeface="Times New Roman" pitchFamily="18" charset="0"/>
              </a:rPr>
              <a:t>RESULT ANALYSIS AND DISCUSSION</a:t>
            </a:r>
            <a:endParaRPr lang="en-US" sz="2800" dirty="0">
              <a:latin typeface="Garamond" panose="02020404030301010803" pitchFamily="18" charset="0"/>
            </a:endParaRPr>
          </a:p>
        </p:txBody>
      </p:sp>
      <p:sp>
        <p:nvSpPr>
          <p:cNvPr id="8" name="Footer Placeholder 6">
            <a:extLst>
              <a:ext uri="{FF2B5EF4-FFF2-40B4-BE49-F238E27FC236}">
                <a16:creationId xmlns:a16="http://schemas.microsoft.com/office/drawing/2014/main" id="{67827F24-4E05-D3AB-1EA8-C2892DB07D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452209" y="6576293"/>
            <a:ext cx="6618891" cy="210666"/>
          </a:xfrm>
        </p:spPr>
        <p:txBody>
          <a:bodyPr/>
          <a:lstStyle/>
          <a:p>
            <a:pPr>
              <a:defRPr/>
            </a:pPr>
            <a:r>
              <a:rPr lang="en-US" b="1" i="1" dirty="0">
                <a:latin typeface="Garamond" panose="02020404030301010803" pitchFamily="18" charset="0"/>
                <a:cs typeface="Times New Roman" pitchFamily="18" charset="0"/>
              </a:rPr>
              <a:t>Department of Computer Science Engineering(AIML)</a:t>
            </a:r>
          </a:p>
        </p:txBody>
      </p:sp>
      <p:sp>
        <p:nvSpPr>
          <p:cNvPr id="7" name="Rectangle 6"/>
          <p:cNvSpPr/>
          <p:nvPr/>
        </p:nvSpPr>
        <p:spPr>
          <a:xfrm>
            <a:off x="4451798" y="2794387"/>
            <a:ext cx="6096000" cy="954107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2800" dirty="0"/>
              <a:t>Use the output in tabular form with comparative study and discuss.</a:t>
            </a: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355888566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76DE54B-BF47-723F-C6C1-13095075F1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58B3AD-D297-1047-9FAD-E399140930C8}" type="slidenum">
              <a:rPr lang="en-US" smtClean="0"/>
              <a:pPr/>
              <a:t>14</a:t>
            </a:fld>
            <a:endParaRPr lang="en-US" dirty="0"/>
          </a:p>
        </p:txBody>
      </p:sp>
      <p:sp>
        <p:nvSpPr>
          <p:cNvPr id="10" name="Rectangle 9"/>
          <p:cNvSpPr/>
          <p:nvPr/>
        </p:nvSpPr>
        <p:spPr>
          <a:xfrm>
            <a:off x="0" y="736600"/>
            <a:ext cx="2133600" cy="6121400"/>
          </a:xfrm>
          <a:prstGeom prst="rect">
            <a:avLst/>
          </a:prstGeom>
          <a:solidFill>
            <a:schemeClr val="accent2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109454" tIns="54727" rIns="109454" bIns="54727" anchor="ctr"/>
          <a:lstStyle/>
          <a:p>
            <a:pPr algn="ctr"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173D117-F69F-2C28-6919-6F07CC144FD4}"/>
              </a:ext>
            </a:extLst>
          </p:cNvPr>
          <p:cNvSpPr/>
          <p:nvPr/>
        </p:nvSpPr>
        <p:spPr>
          <a:xfrm>
            <a:off x="2133600" y="0"/>
            <a:ext cx="10058400" cy="736600"/>
          </a:xfrm>
          <a:prstGeom prst="rect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latin typeface="Garamond" panose="02020404030301010803" pitchFamily="18" charset="0"/>
                <a:cs typeface="Times New Roman" pitchFamily="18" charset="0"/>
              </a:rPr>
              <a:t>SCREENSHOTS OF RESULT (If Any)</a:t>
            </a:r>
            <a:endParaRPr lang="en-US" sz="2800" dirty="0">
              <a:latin typeface="Garamond" panose="02020404030301010803" pitchFamily="18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4765603" y="3244334"/>
            <a:ext cx="412702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/>
              <a:t>Paste the Screenshots here</a:t>
            </a:r>
            <a:endParaRPr lang="en-IN" sz="2800" dirty="0"/>
          </a:p>
        </p:txBody>
      </p:sp>
      <p:sp>
        <p:nvSpPr>
          <p:cNvPr id="8" name="Footer Placeholder 6">
            <a:extLst>
              <a:ext uri="{FF2B5EF4-FFF2-40B4-BE49-F238E27FC236}">
                <a16:creationId xmlns:a16="http://schemas.microsoft.com/office/drawing/2014/main" id="{67827F24-4E05-D3AB-1EA8-C2892DB07D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452209" y="6576293"/>
            <a:ext cx="6618891" cy="210666"/>
          </a:xfrm>
        </p:spPr>
        <p:txBody>
          <a:bodyPr/>
          <a:lstStyle/>
          <a:p>
            <a:pPr>
              <a:defRPr/>
            </a:pPr>
            <a:r>
              <a:rPr lang="en-US" b="1" i="1" dirty="0">
                <a:latin typeface="Garamond" panose="02020404030301010803" pitchFamily="18" charset="0"/>
                <a:cs typeface="Times New Roman" pitchFamily="18" charset="0"/>
              </a:rPr>
              <a:t>Department of Computer Science Engineering(AIML)</a:t>
            </a:r>
          </a:p>
        </p:txBody>
      </p:sp>
    </p:spTree>
    <p:extLst>
      <p:ext uri="{BB962C8B-B14F-4D97-AF65-F5344CB8AC3E}">
        <p14:creationId xmlns:p14="http://schemas.microsoft.com/office/powerpoint/2010/main" val="218722133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76DE54B-BF47-723F-C6C1-13095075F1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58B3AD-D297-1047-9FAD-E399140930C8}" type="slidenum">
              <a:rPr lang="en-US" smtClean="0"/>
              <a:pPr/>
              <a:t>15</a:t>
            </a:fld>
            <a:endParaRPr lang="en-US" dirty="0"/>
          </a:p>
        </p:txBody>
      </p:sp>
      <p:sp>
        <p:nvSpPr>
          <p:cNvPr id="10" name="Rectangle 9"/>
          <p:cNvSpPr/>
          <p:nvPr/>
        </p:nvSpPr>
        <p:spPr>
          <a:xfrm>
            <a:off x="0" y="736600"/>
            <a:ext cx="2133600" cy="6121400"/>
          </a:xfrm>
          <a:prstGeom prst="rect">
            <a:avLst/>
          </a:prstGeom>
          <a:solidFill>
            <a:schemeClr val="accent2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109454" tIns="54727" rIns="109454" bIns="54727" anchor="ctr"/>
          <a:lstStyle/>
          <a:p>
            <a:pPr algn="ctr"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173D117-F69F-2C28-6919-6F07CC144FD4}"/>
              </a:ext>
            </a:extLst>
          </p:cNvPr>
          <p:cNvSpPr/>
          <p:nvPr/>
        </p:nvSpPr>
        <p:spPr>
          <a:xfrm>
            <a:off x="2133600" y="0"/>
            <a:ext cx="10058400" cy="736600"/>
          </a:xfrm>
          <a:prstGeom prst="rect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latin typeface="Garamond" panose="02020404030301010803" pitchFamily="18" charset="0"/>
                <a:cs typeface="Times New Roman" pitchFamily="18" charset="0"/>
              </a:rPr>
              <a:t>CONCLUSION &amp; FUTURE SCOPE</a:t>
            </a:r>
            <a:endParaRPr lang="en-US" sz="2800" dirty="0">
              <a:latin typeface="Garamond" panose="02020404030301010803" pitchFamily="18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3452209" y="3240378"/>
            <a:ext cx="7824001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/>
              <a:t>What the Project conclude? What are future scope ?</a:t>
            </a:r>
            <a:endParaRPr lang="en-IN" sz="2800" dirty="0"/>
          </a:p>
        </p:txBody>
      </p:sp>
      <p:sp>
        <p:nvSpPr>
          <p:cNvPr id="8" name="Footer Placeholder 6">
            <a:extLst>
              <a:ext uri="{FF2B5EF4-FFF2-40B4-BE49-F238E27FC236}">
                <a16:creationId xmlns:a16="http://schemas.microsoft.com/office/drawing/2014/main" id="{67827F24-4E05-D3AB-1EA8-C2892DB07D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452209" y="6576293"/>
            <a:ext cx="6618891" cy="210666"/>
          </a:xfrm>
        </p:spPr>
        <p:txBody>
          <a:bodyPr/>
          <a:lstStyle/>
          <a:p>
            <a:pPr>
              <a:defRPr/>
            </a:pPr>
            <a:r>
              <a:rPr lang="en-US" b="1" i="1" dirty="0">
                <a:latin typeface="Garamond" panose="02020404030301010803" pitchFamily="18" charset="0"/>
                <a:cs typeface="Times New Roman" pitchFamily="18" charset="0"/>
              </a:rPr>
              <a:t>Department of Computer Science Engineering(AIML)</a:t>
            </a:r>
          </a:p>
        </p:txBody>
      </p:sp>
    </p:spTree>
    <p:extLst>
      <p:ext uri="{BB962C8B-B14F-4D97-AF65-F5344CB8AC3E}">
        <p14:creationId xmlns:p14="http://schemas.microsoft.com/office/powerpoint/2010/main" val="36009039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76DE54B-BF47-723F-C6C1-13095075F1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58B3AD-D297-1047-9FAD-E399140930C8}" type="slidenum">
              <a:rPr lang="en-US" smtClean="0"/>
              <a:pPr/>
              <a:t>16</a:t>
            </a:fld>
            <a:endParaRPr lang="en-US" dirty="0"/>
          </a:p>
        </p:txBody>
      </p:sp>
      <p:sp>
        <p:nvSpPr>
          <p:cNvPr id="10" name="Rectangle 9"/>
          <p:cNvSpPr/>
          <p:nvPr/>
        </p:nvSpPr>
        <p:spPr>
          <a:xfrm>
            <a:off x="0" y="736600"/>
            <a:ext cx="2133600" cy="6121400"/>
          </a:xfrm>
          <a:prstGeom prst="rect">
            <a:avLst/>
          </a:prstGeom>
          <a:solidFill>
            <a:schemeClr val="accent2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109454" tIns="54727" rIns="109454" bIns="54727" anchor="ctr"/>
          <a:lstStyle/>
          <a:p>
            <a:pPr algn="ctr"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173D117-F69F-2C28-6919-6F07CC144FD4}"/>
              </a:ext>
            </a:extLst>
          </p:cNvPr>
          <p:cNvSpPr/>
          <p:nvPr/>
        </p:nvSpPr>
        <p:spPr>
          <a:xfrm>
            <a:off x="2133600" y="0"/>
            <a:ext cx="10058400" cy="736600"/>
          </a:xfrm>
          <a:prstGeom prst="rect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latin typeface="Garamond" panose="02020404030301010803" pitchFamily="18" charset="0"/>
                <a:cs typeface="Times New Roman" pitchFamily="18" charset="0"/>
              </a:rPr>
              <a:t>REFERENCES</a:t>
            </a:r>
            <a:endParaRPr lang="en-US" sz="2800" dirty="0">
              <a:latin typeface="Garamond" panose="02020404030301010803" pitchFamily="18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2590800" y="1495563"/>
            <a:ext cx="914400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fi-FI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[1] </a:t>
            </a:r>
            <a:r>
              <a:rPr lang="en-US" dirty="0"/>
              <a:t>Brewster, C., </a:t>
            </a:r>
            <a:r>
              <a:rPr lang="en-US" dirty="0" err="1"/>
              <a:t>Roussaki</a:t>
            </a:r>
            <a:r>
              <a:rPr lang="en-US" dirty="0"/>
              <a:t>, I., </a:t>
            </a:r>
            <a:r>
              <a:rPr lang="en-US" dirty="0" err="1"/>
              <a:t>Kalatzis</a:t>
            </a:r>
            <a:r>
              <a:rPr lang="en-US" dirty="0"/>
              <a:t>, N., </a:t>
            </a:r>
            <a:r>
              <a:rPr lang="en-US" dirty="0" err="1"/>
              <a:t>Doolin</a:t>
            </a:r>
            <a:r>
              <a:rPr lang="en-US" dirty="0"/>
              <a:t>, K., &amp; Ellis, K. (2017). </a:t>
            </a:r>
            <a:r>
              <a:rPr lang="en-US" dirty="0" err="1"/>
              <a:t>IoT</a:t>
            </a:r>
            <a:r>
              <a:rPr lang="en-US" dirty="0"/>
              <a:t> in agriculture: Designing a Europe-wide large-scale pilot. </a:t>
            </a:r>
            <a:r>
              <a:rPr lang="en-US" i="1" dirty="0"/>
              <a:t>IEEE communications magazine</a:t>
            </a:r>
            <a:r>
              <a:rPr lang="en-US" dirty="0"/>
              <a:t>, </a:t>
            </a:r>
            <a:r>
              <a:rPr lang="en-US" i="1" dirty="0"/>
              <a:t>55</a:t>
            </a:r>
            <a:r>
              <a:rPr lang="en-US" dirty="0"/>
              <a:t>(9), 26-33.</a:t>
            </a:r>
          </a:p>
          <a:p>
            <a:pPr algn="just"/>
            <a:r>
              <a:rPr lang="en-US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US" b="0" i="0" u="none" strike="noStrike" baseline="0">
                <a:latin typeface="Times New Roman" panose="02020603050405020304" pitchFamily="18" charset="0"/>
                <a:cs typeface="Times New Roman" panose="02020603050405020304" pitchFamily="18" charset="0"/>
              </a:rPr>
              <a:t>APA- style]</a:t>
            </a:r>
            <a:r>
              <a:rPr lang="nl-NL" b="0" i="0" u="none" strike="noStrike" baseline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nl-NL" b="0" i="0" u="none" strike="noStrike" baseline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5084499" y="3243302"/>
            <a:ext cx="381784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/>
              <a:t>References format should be as above</a:t>
            </a:r>
            <a:endParaRPr lang="en-IN" b="1" dirty="0"/>
          </a:p>
        </p:txBody>
      </p:sp>
      <p:sp>
        <p:nvSpPr>
          <p:cNvPr id="8" name="Footer Placeholder 6">
            <a:extLst>
              <a:ext uri="{FF2B5EF4-FFF2-40B4-BE49-F238E27FC236}">
                <a16:creationId xmlns:a16="http://schemas.microsoft.com/office/drawing/2014/main" id="{67827F24-4E05-D3AB-1EA8-C2892DB07D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452209" y="6576293"/>
            <a:ext cx="6618891" cy="210666"/>
          </a:xfrm>
        </p:spPr>
        <p:txBody>
          <a:bodyPr/>
          <a:lstStyle/>
          <a:p>
            <a:pPr>
              <a:defRPr/>
            </a:pPr>
            <a:r>
              <a:rPr lang="en-US" b="1" i="1" dirty="0">
                <a:latin typeface="Garamond" panose="02020404030301010803" pitchFamily="18" charset="0"/>
                <a:cs typeface="Times New Roman" pitchFamily="18" charset="0"/>
              </a:rPr>
              <a:t>Department of Computer Science Engineering(AIML)</a:t>
            </a:r>
          </a:p>
        </p:txBody>
      </p:sp>
    </p:spTree>
    <p:extLst>
      <p:ext uri="{BB962C8B-B14F-4D97-AF65-F5344CB8AC3E}">
        <p14:creationId xmlns:p14="http://schemas.microsoft.com/office/powerpoint/2010/main" val="407044173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5A2C75-B1B0-35EF-D10A-6943A410F9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B112AC7-A257-6E86-7CDA-AC05B4F2E7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58B3AD-D297-1047-9FAD-E399140930C8}" type="slidenum">
              <a:rPr lang="en-US" smtClean="0"/>
              <a:pPr/>
              <a:t>17</a:t>
            </a:fld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9251534-3825-B52E-BB59-7A6ADD15B98E}"/>
              </a:ext>
            </a:extLst>
          </p:cNvPr>
          <p:cNvSpPr/>
          <p:nvPr/>
        </p:nvSpPr>
        <p:spPr>
          <a:xfrm>
            <a:off x="0" y="736600"/>
            <a:ext cx="2133600" cy="6121400"/>
          </a:xfrm>
          <a:prstGeom prst="rect">
            <a:avLst/>
          </a:prstGeom>
          <a:solidFill>
            <a:schemeClr val="accent2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109454" tIns="54727" rIns="109454" bIns="54727" anchor="ctr"/>
          <a:lstStyle/>
          <a:p>
            <a:pPr algn="ctr"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1F0D5F5-D9E6-1C0F-3D90-47F6E70F0C9E}"/>
              </a:ext>
            </a:extLst>
          </p:cNvPr>
          <p:cNvSpPr/>
          <p:nvPr/>
        </p:nvSpPr>
        <p:spPr>
          <a:xfrm>
            <a:off x="2133600" y="0"/>
            <a:ext cx="10058400" cy="736600"/>
          </a:xfrm>
          <a:prstGeom prst="rect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latin typeface="Garamond" panose="02020404030301010803" pitchFamily="18" charset="0"/>
              </a:rPr>
              <a:t>PUBLICATION DETAILS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6BA785D-F5AB-B470-D516-E53495A9011C}"/>
              </a:ext>
            </a:extLst>
          </p:cNvPr>
          <p:cNvSpPr/>
          <p:nvPr/>
        </p:nvSpPr>
        <p:spPr>
          <a:xfrm>
            <a:off x="2590800" y="1495563"/>
            <a:ext cx="9144000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/>
              <a:t>Conference Date : </a:t>
            </a:r>
          </a:p>
          <a:p>
            <a:r>
              <a:rPr lang="en-US" sz="2800" dirty="0"/>
              <a:t>Conference Name : </a:t>
            </a:r>
          </a:p>
          <a:p>
            <a:r>
              <a:rPr lang="en-IN" sz="2800" dirty="0"/>
              <a:t>Paper Status : </a:t>
            </a:r>
          </a:p>
        </p:txBody>
      </p:sp>
      <p:sp>
        <p:nvSpPr>
          <p:cNvPr id="8" name="Footer Placeholder 6">
            <a:extLst>
              <a:ext uri="{FF2B5EF4-FFF2-40B4-BE49-F238E27FC236}">
                <a16:creationId xmlns:a16="http://schemas.microsoft.com/office/drawing/2014/main" id="{7006A416-35FB-3859-3229-4FCCCEF758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452209" y="6576293"/>
            <a:ext cx="6618891" cy="210666"/>
          </a:xfrm>
        </p:spPr>
        <p:txBody>
          <a:bodyPr/>
          <a:lstStyle/>
          <a:p>
            <a:pPr>
              <a:defRPr/>
            </a:pPr>
            <a:r>
              <a:rPr lang="en-US" b="1" i="1" dirty="0">
                <a:latin typeface="Garamond" panose="02020404030301010803" pitchFamily="18" charset="0"/>
                <a:cs typeface="Times New Roman" pitchFamily="18" charset="0"/>
              </a:rPr>
              <a:t>Department of Computer Science Engineering(AIML)</a:t>
            </a:r>
          </a:p>
        </p:txBody>
      </p:sp>
    </p:spTree>
    <p:extLst>
      <p:ext uri="{BB962C8B-B14F-4D97-AF65-F5344CB8AC3E}">
        <p14:creationId xmlns:p14="http://schemas.microsoft.com/office/powerpoint/2010/main" val="368613435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76DE54B-BF47-723F-C6C1-13095075F1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58B3AD-D297-1047-9FAD-E399140930C8}" type="slidenum">
              <a:rPr lang="en-US" smtClean="0"/>
              <a:pPr/>
              <a:t>18</a:t>
            </a:fld>
            <a:endParaRPr lang="en-US" dirty="0"/>
          </a:p>
        </p:txBody>
      </p:sp>
      <p:sp>
        <p:nvSpPr>
          <p:cNvPr id="10" name="Rectangle 9"/>
          <p:cNvSpPr/>
          <p:nvPr/>
        </p:nvSpPr>
        <p:spPr>
          <a:xfrm>
            <a:off x="0" y="736600"/>
            <a:ext cx="2133600" cy="6121400"/>
          </a:xfrm>
          <a:prstGeom prst="rect">
            <a:avLst/>
          </a:prstGeom>
          <a:solidFill>
            <a:schemeClr val="accent2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109454" tIns="54727" rIns="109454" bIns="54727" anchor="ctr"/>
          <a:lstStyle/>
          <a:p>
            <a:pPr algn="ctr"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173D117-F69F-2C28-6919-6F07CC144FD4}"/>
              </a:ext>
            </a:extLst>
          </p:cNvPr>
          <p:cNvSpPr/>
          <p:nvPr/>
        </p:nvSpPr>
        <p:spPr>
          <a:xfrm>
            <a:off x="2133600" y="0"/>
            <a:ext cx="10058400" cy="736600"/>
          </a:xfrm>
          <a:prstGeom prst="rect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 dirty="0">
              <a:latin typeface="Garamond" panose="02020404030301010803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5752734" y="2825449"/>
            <a:ext cx="2820131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800" b="1" dirty="0"/>
              <a:t>Thank You</a:t>
            </a:r>
            <a:endParaRPr lang="en-IN" sz="4800" b="1" dirty="0"/>
          </a:p>
        </p:txBody>
      </p:sp>
      <p:sp>
        <p:nvSpPr>
          <p:cNvPr id="8" name="Footer Placeholder 6">
            <a:extLst>
              <a:ext uri="{FF2B5EF4-FFF2-40B4-BE49-F238E27FC236}">
                <a16:creationId xmlns:a16="http://schemas.microsoft.com/office/drawing/2014/main" id="{67827F24-4E05-D3AB-1EA8-C2892DB07D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452209" y="6576293"/>
            <a:ext cx="6618891" cy="210666"/>
          </a:xfrm>
        </p:spPr>
        <p:txBody>
          <a:bodyPr/>
          <a:lstStyle/>
          <a:p>
            <a:pPr>
              <a:defRPr/>
            </a:pPr>
            <a:r>
              <a:rPr lang="en-US" b="1" i="1" dirty="0">
                <a:latin typeface="Garamond" panose="02020404030301010803" pitchFamily="18" charset="0"/>
                <a:cs typeface="Times New Roman" pitchFamily="18" charset="0"/>
              </a:rPr>
              <a:t>Department of Computer Science Engineering(AIML)</a:t>
            </a:r>
          </a:p>
        </p:txBody>
      </p:sp>
    </p:spTree>
    <p:extLst>
      <p:ext uri="{BB962C8B-B14F-4D97-AF65-F5344CB8AC3E}">
        <p14:creationId xmlns:p14="http://schemas.microsoft.com/office/powerpoint/2010/main" val="38629987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143</TotalTime>
  <Words>634</Words>
  <Application>Microsoft Office PowerPoint</Application>
  <PresentationFormat>Widescreen</PresentationFormat>
  <Paragraphs>140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4" baseType="lpstr">
      <vt:lpstr>Arial</vt:lpstr>
      <vt:lpstr>Calibri</vt:lpstr>
      <vt:lpstr>Calibri Light</vt:lpstr>
      <vt:lpstr>Garamond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Acer</dc:creator>
  <cp:lastModifiedBy>Harish Yadav</cp:lastModifiedBy>
  <cp:revision>30</cp:revision>
  <dcterms:created xsi:type="dcterms:W3CDTF">2023-09-02T07:11:33Z</dcterms:created>
  <dcterms:modified xsi:type="dcterms:W3CDTF">2026-10-04T14:02:01Z</dcterms:modified>
</cp:coreProperties>
</file>