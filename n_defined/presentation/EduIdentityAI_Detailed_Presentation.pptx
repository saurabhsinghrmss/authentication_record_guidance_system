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4" r:id="rId4"/>
    <p:sldId id="275" r:id="rId5"/>
    <p:sldId id="276" r:id="rId6"/>
    <p:sldId id="282" r:id="rId7"/>
    <p:sldId id="260" r:id="rId8"/>
    <p:sldId id="277" r:id="rId9"/>
    <p:sldId id="278" r:id="rId10"/>
    <p:sldId id="261" r:id="rId11"/>
    <p:sldId id="265" r:id="rId12"/>
    <p:sldId id="266" r:id="rId13"/>
    <p:sldId id="268" r:id="rId14"/>
    <p:sldId id="279" r:id="rId15"/>
    <p:sldId id="269" r:id="rId16"/>
    <p:sldId id="271" r:id="rId17"/>
    <p:sldId id="28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5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6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8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3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0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2670-E22D-8C86-C230-98DB37C4A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DEEF-A1EC-5E39-A3DC-F80F35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6421835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518A-4C30-6974-2B47-D1DFBC7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435527"/>
            <a:ext cx="49149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83E3-CCC9-82B0-E4C0-608939E3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500" y="6421834"/>
            <a:ext cx="2743200" cy="365125"/>
          </a:xfrm>
        </p:spPr>
        <p:txBody>
          <a:bodyPr/>
          <a:lstStyle/>
          <a:p>
            <a:fld id="{BC58B3AD-D297-1047-9FAD-E399140930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2BAF-4E46-E1E5-2A03-488E5A4E8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48256" cy="6827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C9AFA-0506-58E4-7332-7D31F2B82E1A}"/>
              </a:ext>
            </a:extLst>
          </p:cNvPr>
          <p:cNvCxnSpPr>
            <a:cxnSpLocks/>
          </p:cNvCxnSpPr>
          <p:nvPr userDrawn="1"/>
        </p:nvCxnSpPr>
        <p:spPr>
          <a:xfrm>
            <a:off x="0" y="640913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7861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ieeexplore.ieee.org/author/37087500168" TargetMode="External"/><Relationship Id="rId3" Type="http://schemas.openxmlformats.org/officeDocument/2006/relationships/hyperlink" Target="https://ieeexplore.ieee.org/author/37087499389" TargetMode="External"/><Relationship Id="rId4" Type="http://schemas.openxmlformats.org/officeDocument/2006/relationships/hyperlink" Target="https://ieeexplore.ieee.org/author/37087499800" TargetMode="External"/><Relationship Id="rId5" Type="http://schemas.openxmlformats.org/officeDocument/2006/relationships/hyperlink" Target="https://doi.org/10.1109/ICAIT47043.2019.898726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C96AF-4D86-8F19-0B71-2C7DCF93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196"/>
            <a:ext cx="2133600" cy="1903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2919715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EduIdentityAI: Student Authentication, Record &amp; Guidance System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83574" y="4278955"/>
            <a:ext cx="2471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PRESENTED BY :</a:t>
            </a:r>
          </a:p>
          <a:p>
            <a:r>
              <a:t>Student Development Team</a:t>
            </a:r>
          </a:p>
          <a:p>
            <a:r>
              <a:t>(Roll Nos: 202601..., 202602...)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7937" y="4203673"/>
            <a:ext cx="27796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UNDER SUPERVISION OF :</a:t>
            </a:r>
          </a:p>
          <a:p>
            <a:r>
              <a:t>Faculty Supervisor Name</a:t>
            </a:r>
          </a:p>
          <a:p>
            <a:r>
              <a:t>Assistant Professor, CSE-AIML</a:t>
            </a:r>
          </a:p>
          <a:p>
            <a:r>
              <a:t>G.L. Bajaj Institute of Technology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86152" y="2304132"/>
            <a:ext cx="232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SESSION 2026-2027</a:t>
            </a:r>
          </a:p>
        </p:txBody>
      </p:sp>
    </p:spTree>
    <p:extLst>
      <p:ext uri="{BB962C8B-B14F-4D97-AF65-F5344CB8AC3E}">
        <p14:creationId xmlns:p14="http://schemas.microsoft.com/office/powerpoint/2010/main" val="395078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Project Scope: EduIdentityAI is an enterprise-grade academic identity management, record governance, and AI-driven student guidance platform.</a:t>
            </a:r>
          </a:p>
          <a:p>
            <a:r>
              <a:t>• Current Implementation (Done): Fully operational FastAPI backend (Python 3.13), SQLAlchemy 2.0 ORM, Lit &amp; Alpine.js cyber-glassmorphism frontend, and Alembic production database migrations.</a:t>
            </a:r>
          </a:p>
          <a:p>
            <a:r>
              <a:t>• Core Features: Multi-factor authentication (bcrypt, JWT, Math CAPTCHA, 2FA OTP), simulated multimodal biometrics (Face, Voice, OCR), APAAR/DigiLocker sandbox verification, and Qwen3 RAG academic advisement.</a:t>
            </a:r>
          </a:p>
          <a:p>
            <a:r>
              <a:t>• Telemetry &amp; Governance: Gmail-partitioned user work logging (`storage/logs/users/`), gzip compression, multi-cloud synchronization, and real-time WebSocket telemetry.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11928" y="2070827"/>
            <a:ext cx="8299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Project Scope: EduIdentityAI is an enterprise-grade academic identity management, record governance, and AI-driven student guidance platform.</a:t>
            </a:r>
          </a:p>
          <a:p>
            <a:r>
              <a:t>• Current Implementation (Done): Fully operational FastAPI backend (Python 3.13), SQLAlchemy 2.0 ORM, Lit &amp; Alpine.js cyber-glassmorphism frontend, and Alembic production database migrations.</a:t>
            </a:r>
          </a:p>
          <a:p>
            <a:r>
              <a:t>• Core Features: Multi-factor authentication (bcrypt, JWT, Math CAPTCHA, 2FA OTP), simulated multimodal biometrics (Face, Voice, OCR), APAAR/DigiLocker sandbox verification, and Qwen3 RAG academic advisement.</a:t>
            </a:r>
          </a:p>
          <a:p>
            <a:r>
              <a:t>• Telemetry &amp; Governance: Gmail-partitioned user work logging (`storage/logs/users/`), gzip compression, multi-cloud synchronization, and real-time WebSocket telemetry.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557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1. Smith et al. (2024): 'Deep Learning Approaches for Multimodal Biometric Authentication in Higher Education' - Efficacy of combining facial embeddings with acoustic voice verification.</a:t>
            </a:r>
          </a:p>
          <a:p>
            <a:r>
              <a:t>2. Kumar &amp; Sharma (2023): 'Retrieval-Augmented Generation (RAG) for Academic Advisory Systems' - Semantic search over university credit transfer policies.</a:t>
            </a:r>
          </a:p>
          <a:p>
            <a:r>
              <a:t>3. NIST SP 800-63-3: Digital Identity Guidelines on zero-trust token revocation and multi-factor authentication (MFA).</a:t>
            </a:r>
          </a:p>
          <a:p>
            <a:r>
              <a:t>4. Cloud Governance &amp; Partitioned Logging: Secure audit logging and gzip compression for multi-tenant cloud storage architectures.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1. Smith et al. (2024): 'Deep Learning Approaches for Multimodal Biometric Authentication in Higher Education' - Efficacy of combining facial embeddings with acoustic voice verification.</a:t>
            </a:r>
          </a:p>
          <a:p>
            <a:r>
              <a:t>2. Kumar &amp; Sharma (2023): 'Retrieval-Augmented Generation (RAG) for Academic Advisory Systems' - Semantic search over university credit transfer policies.</a:t>
            </a:r>
          </a:p>
          <a:p>
            <a:r>
              <a:t>3. NIST SP 800-63-3: Digital Identity Guidelines on zero-trust token revocation and multi-factor authentication (MFA).</a:t>
            </a:r>
          </a:p>
          <a:p>
            <a:r>
              <a:t>4. Cloud Governance &amp; Partitioned Logging: Secure audit logging and gzip compression for multi-tenant cloud storage architectures.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LITERATURE SURVEY (at least 10-15 papers)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3089F5-3302-4ADF-A49E-035F33BA2EF6}"/>
              </a:ext>
            </a:extLst>
          </p:cNvPr>
          <p:cNvGraphicFramePr>
            <a:graphicFrameLocks noGrp="1"/>
          </p:cNvGraphicFramePr>
          <p:nvPr/>
        </p:nvGraphicFramePr>
        <p:xfrm>
          <a:off x="2266681" y="1289826"/>
          <a:ext cx="9925319" cy="472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0251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February 2020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endParaRPr lang="en-US" sz="1200" b="0" i="0" u="sng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hlinkClick r:id="rId2"/>
                      </a:endParaRPr>
                    </a:p>
                    <a:p>
                      <a:endParaRPr lang="en-US" sz="1200" b="0" i="0" u="sng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hlinkClick r:id="rId2"/>
                      </a:endParaRPr>
                    </a:p>
                    <a:p>
                      <a:r>
                        <a:rPr lang="en-US" sz="1200" b="0" i="0" u="sng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Tejonidhi</a:t>
                      </a:r>
                      <a:r>
                        <a:rPr lang="en-US" sz="1200" b="0" i="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 M R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Malnad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College of Engineering, Hassan</a:t>
                      </a: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Sunitha M R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Swathi H 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Survey on IOT-Middleware and Image Processing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Date Added to IEEE </a:t>
                      </a:r>
                      <a:r>
                        <a:rPr lang="en-US" sz="12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Xplore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February 2020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ISBN Information: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INSPEC Accession Number: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19352715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DOI: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/>
                        </a:rPr>
                        <a:t>10.1109/ICAIT47043.2019.8987264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Publisher: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I.O.T &amp;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PROC.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It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discussed different techniques used for different applications in image processing for agriculture, traffic management, and medical imaging and industrial applications.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eveloped a middleware that uses image processing techniques to enhance automation.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ome issues such as interoperability, scalability, security and privacy, energy efficient systems remain unsolved thus leaving a scope for research in this area.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1645153703"/>
                  </a:ext>
                </a:extLst>
              </a:tr>
            </a:tbl>
          </a:graphicData>
        </a:graphic>
      </p:graphicFrame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r>
              <a:t>1. Smith et al. (2024): 'Deep Learning Approaches for Multimodal Biometric Authentication in Higher Education' - Efficacy of combining facial embeddings with acoustic voice verification.</a:t>
            </a:r>
          </a:p>
          <a:p>
            <a:r>
              <a:t>2. Kumar &amp; Sharma (2023): 'Retrieval-Augmented Generation (RAG) for Academic Advisory Systems' - Semantic search over university credit transfer policies.</a:t>
            </a:r>
          </a:p>
          <a:p>
            <a:r>
              <a:t>3. NIST SP 800-63-3: Digital Identity Guidelines on zero-trust token revocation and multi-factor authentication (MFA).</a:t>
            </a:r>
          </a:p>
          <a:p>
            <a:r>
              <a:t>4. Cloud Governance &amp; Partitioned Logging: Secure audit logging and gzip compression for multi-tenant cloud storage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14699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EXISTING SYSTEM/RELATED WORK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Traditional Portals: Rely on static username/password credentials vulnerable to credential stuffing and brute-force attacks.</a:t>
            </a:r>
          </a:p>
          <a:p>
            <a:r>
              <a:t>• Fragmented Verification: Manual verification of degree certificates and national academic IDs creates administrative bottlenecks.</a:t>
            </a:r>
          </a:p>
          <a:p>
            <a:r>
              <a:t>• Limitations of Existing Work: Lack real-time AI guidance integration, partitioned audit logging, and automated compliance tracking.</a:t>
            </a:r>
          </a:p>
          <a:p>
            <a:r>
              <a:t>• EduIdentityAI Advantage: Unifies zero-trust authentication, multimodal biometrics, and RAG advisement into a cohesive platform.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2497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Security Imperative: Eliminate credential fraud and unauthorized transcript alterations through cryptographic hashing and biometric verification.</a:t>
            </a:r>
          </a:p>
          <a:p>
            <a:r>
              <a:t>• Student Success: Provide proactive early-warning interventions for at-risk students based on attendance drops and credit backlogs.</a:t>
            </a:r>
          </a:p>
          <a:p>
            <a:r>
              <a:t>• Operational Efficiency: Automate institutional record governance, reducing manual overhead for faculty and administrators.</a:t>
            </a:r>
          </a:p>
          <a:p>
            <a:r>
              <a:t>• Developer Resilience: Establish permanent universal developer accounts (`msrch`) with immutable anti-deletion triggers for robust debugging.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Security Imperative: Eliminate credential fraud and unauthorized transcript alterations through cryptographic hashing and biometric verification.</a:t>
            </a:r>
          </a:p>
          <a:p>
            <a:r>
              <a:t>• Student Success: Provide proactive early-warning interventions for at-risk students based on attendance drops and credit backlogs.</a:t>
            </a:r>
          </a:p>
          <a:p>
            <a:r>
              <a:t>• Operational Efficiency: Automate institutional record governance, reducing manual overhead for faculty and administrators.</a:t>
            </a:r>
          </a:p>
          <a:p>
            <a:r>
              <a:t>• Developer Resilience: Establish permanent universal developer accounts (`msrch`) with immutable anti-deletion triggers for robust debugging.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MOTIVATION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7538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8131-228B-589C-3B5E-6AA2AAA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59AC0-31A3-6276-CCFC-D32568EB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To design and implement a secure, modular academic identity management and record governance platform that:</a:t>
            </a:r>
          </a:p>
          <a:p>
            <a:r>
              <a:t>1. Enforces strict multi-factor authentication and multimodal biometric verification.</a:t>
            </a:r>
          </a:p>
          <a:p>
            <a:r>
              <a:t>2. Integrates dense Retrieval-Augmented Generation (RAG) for instant academic policy queries.</a:t>
            </a:r>
          </a:p>
          <a:p>
            <a:r>
              <a:t>3. Provides isolated Gmail-partitioned user work logging and multi-cloud synchronization.</a:t>
            </a:r>
          </a:p>
          <a:p>
            <a:r>
              <a:t>4. Delivers seamless cross-role coordination for students, faculty, parents, institutes, and administrators.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100C7-43F8-3759-E177-D2734D35EEA7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To design and implement a secure, modular academic identity management and record governance platform that:</a:t>
            </a:r>
          </a:p>
          <a:p>
            <a:r>
              <a:t>1. Enforces strict multi-factor authentication and multimodal biometric verification.</a:t>
            </a:r>
          </a:p>
          <a:p>
            <a:r>
              <a:t>2. Integrates dense Retrieval-Augmented Generation (RAG) for instant academic policy queries.</a:t>
            </a:r>
          </a:p>
          <a:p>
            <a:r>
              <a:t>3. Provides isolated Gmail-partitioned user work logging and multi-cloud synchronization.</a:t>
            </a:r>
          </a:p>
          <a:p>
            <a:r>
              <a:t>4. Delivers seamless cross-role coordination for students, faculty, parents, institutes, and administrators.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3A789-4FE2-96FC-020B-48BCAAA0F711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PROBLEM STATEMENT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30B6745-4EF8-9B09-86CB-E5F4B8C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0221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Multi-Tier Authentication: Secure login with bcrypt, JWT, Math CAPTCHA, and 2FA OTP.</a:t>
            </a:r>
          </a:p>
          <a:p>
            <a:r>
              <a:t>• Multimodal Biometrics: Simulate neural feature extraction across Face, Voice, and OCR.</a:t>
            </a:r>
          </a:p>
          <a:p>
            <a:r>
              <a:t>• AI Guidance Engine: RAG advisement and automated CGPA trajectory prediction.</a:t>
            </a:r>
          </a:p>
          <a:p>
            <a:r>
              <a:t>• Granular Audit &amp; Storage: Gmail-partitioned session work logging with Gzip compression and GCS/S3 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Multi-Tier Authentication: Secure login with bcrypt, JWT, Math CAPTCHA, and 2FA OTP.</a:t>
            </a:r>
          </a:p>
          <a:p>
            <a:r>
              <a:t>• Multimodal Biometrics: Simulate neural feature extraction across Face, Voice, and OCR.</a:t>
            </a:r>
          </a:p>
          <a:p>
            <a:r>
              <a:t>• AI Guidance Engine: RAG advisement and automated CGPA trajectory prediction.</a:t>
            </a:r>
          </a:p>
          <a:p>
            <a:r>
              <a:t>• Granular Audit &amp; Storage: Gmail-partitioned session work logging with Gzip compression and GCS/S3 sync.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Multi-Tier Authentication: Secure login with bcrypt, JWT, Math CAPTCHA, and 2FA OTP.</a:t>
            </a:r>
          </a:p>
          <a:p>
            <a:r>
              <a:t>• Multimodal Biometrics: Simulate neural feature extraction across Face, Voice, and OCR.</a:t>
            </a:r>
          </a:p>
          <a:p>
            <a:r>
              <a:t>• AI Guidance Engine: RAG advisement and automated CGPA trajectory prediction.</a:t>
            </a:r>
          </a:p>
          <a:p>
            <a:r>
              <a:t>• Granular Audit &amp; Storage: Gmail-partitioned session work logging with Gzip compression and GCS/S3 sync.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Multi-Tier Authentication: Secure login with bcrypt, JWT, Math CAPTCHA, and 2FA OTP.</a:t>
            </a:r>
          </a:p>
          <a:p>
            <a:r>
              <a:t>• Multimodal Biometrics: Simulate neural feature extraction across Face, Voice, and OCR.</a:t>
            </a:r>
          </a:p>
          <a:p>
            <a:r>
              <a:t>• AI Guidance Engine: RAG advisement and automated CGPA trajectory prediction.</a:t>
            </a:r>
          </a:p>
          <a:p>
            <a:r>
              <a:t>• Granular Audit &amp; Storage: Gmail-partitioned session work logging with Gzip compression and GCS/S3 sync.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10681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Step 1: Architectural Design &amp; Modular Separation (FastAPI backend + Lit/Alpine frontend).</a:t>
            </a:r>
          </a:p>
          <a:p>
            <a:r>
              <a:t>Step 2: Database Modeling (SQLAlchemy 2.0 ORM with SQLite/PostgreSQL and Alembic migrations).</a:t>
            </a:r>
          </a:p>
          <a:p>
            <a:r>
              <a:t>Step 3: Security &amp; Middleware Integration (RateLimiterMiddleware, JWT validation, anti-deletion triggers).</a:t>
            </a:r>
          </a:p>
          <a:p>
            <a:r>
              <a:t>Step 4: AI &amp; Biometric Pipeline Integration (Embedding search, cosine similarity, RAG router).</a:t>
            </a:r>
          </a:p>
          <a:p>
            <a:r>
              <a:t>Step 5: Partitioned Logging &amp; Cloud Sync Adapter (Local JSONL tracking + multi-cloud bucket staging).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Step 1: Architectural Design &amp; Modular Separation (FastAPI backend + Lit/Alpine frontend).</a:t>
            </a:r>
          </a:p>
          <a:p>
            <a:r>
              <a:t>Step 2: Database Modeling (SQLAlchemy 2.0 ORM with SQLite/PostgreSQL and Alembic migrations).</a:t>
            </a:r>
          </a:p>
          <a:p>
            <a:r>
              <a:t>Step 3: Security &amp; Middleware Integration (RateLimiterMiddleware, JWT validation, anti-deletion triggers).</a:t>
            </a:r>
          </a:p>
          <a:p>
            <a:r>
              <a:t>Step 4: AI &amp; Biometric Pipeline Integration (Embedding search, cosine similarity, RAG router).</a:t>
            </a:r>
          </a:p>
          <a:p>
            <a:r>
              <a:t>Step 5: Partitioned Logging &amp; Cloud Sync Adapter (Local JSONL tracking + multi-cloud bucket staging).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Architectural Design &amp; Modular Separation (FastAPI backend + Lit/Alpine frontend).</a:t>
            </a:r>
          </a:p>
          <a:p>
            <a:r>
              <a:t>Step 2: Database Modeling (SQLAlchemy 2.0 ORM with SQLite/PostgreSQL and Alembic migrations).</a:t>
            </a:r>
          </a:p>
          <a:p>
            <a:r>
              <a:t>Step 3: Security &amp; Middleware Integration (RateLimiterMiddleware, JWT validation, anti-deletion triggers).</a:t>
            </a:r>
          </a:p>
          <a:p>
            <a:r>
              <a:t>Step 4: AI &amp; Biometric Pipeline Integration (Embedding search, cosine similarity, RAG router).</a:t>
            </a:r>
          </a:p>
          <a:p>
            <a:r>
              <a:t>Step 5: Partitioned Logging &amp; Cloud Sync Adapter (Local JSONL tracking + multi-cloud bucket staging).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0424" y="2567121"/>
            <a:ext cx="5025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Step 1: Architectural Design &amp; Modular Separation (FastAPI backend + Lit/Alpine frontend).</a:t>
            </a:r>
          </a:p>
          <a:p>
            <a:r>
              <a:t>Step 2: Database Modeling (SQLAlchemy 2.0 ORM with SQLite/PostgreSQL and Alembic migrations).</a:t>
            </a:r>
          </a:p>
          <a:p>
            <a:r>
              <a:t>Step 3: Security &amp; Middleware Integration (RateLimiterMiddleware, JWT validation, anti-deletion triggers).</a:t>
            </a:r>
          </a:p>
          <a:p>
            <a:r>
              <a:t>Step 4: AI &amp; Biometric Pipeline Integration (Embedding search, cosine similarity, RAG router).</a:t>
            </a:r>
          </a:p>
          <a:p>
            <a:r>
              <a:t>Step 5: Partitioned Logging &amp; Cloud Sync Adapter (Local JSONL tracking + multi-cloud bucket staging).</a:t>
            </a:r>
          </a:p>
        </p:txBody>
      </p:sp>
    </p:spTree>
    <p:extLst>
      <p:ext uri="{BB962C8B-B14F-4D97-AF65-F5344CB8AC3E}">
        <p14:creationId xmlns:p14="http://schemas.microsoft.com/office/powerpoint/2010/main" val="177175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DESCRIPTION OF PROJECT (In Form Of Diagram)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4497" y="1341266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BASE WORK:</a:t>
            </a:r>
          </a:p>
          <a:p>
            <a:r>
              <a:t>Traditional relational student databases and static authentication portals.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0424" y="2567121"/>
            <a:ext cx="5025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MODIFICATIONS:</a:t>
            </a:r>
          </a:p>
          <a:p>
            <a:r>
              <a:t>Multimodal neural biometrics (Face/Voice/OCR), Qwen3 RAG vector search, Gmail-partitioned logging, and cross-role dependency mapping.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6022" y="3797300"/>
            <a:ext cx="3143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EXPECTED RESULT:</a:t>
            </a:r>
          </a:p>
          <a:p>
            <a:r>
              <a:t>Sub-45ms enterprise API latency, zero-trust security hardening, and complete academic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4497" y="5003057"/>
            <a:ext cx="226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CONCLUSION:</a:t>
            </a:r>
          </a:p>
          <a:p>
            <a:r>
              <a:t>Fully operational production platform with 100% test pass rate.</a:t>
            </a:r>
          </a:p>
        </p:txBody>
      </p:sp>
      <p:sp>
        <p:nvSpPr>
          <p:cNvPr id="2" name="Down Arrow 1"/>
          <p:cNvSpPr/>
          <p:nvPr/>
        </p:nvSpPr>
        <p:spPr>
          <a:xfrm>
            <a:off x="6672248" y="1925834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6692716" y="4520626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own Arrow 14"/>
          <p:cNvSpPr/>
          <p:nvPr/>
        </p:nvSpPr>
        <p:spPr>
          <a:xfrm>
            <a:off x="6668202" y="3160910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31122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Hardware Requirements:</a:t>
            </a:r>
          </a:p>
          <a:p>
            <a:r>
              <a:t>  - Processor: Intel Core i5 / AMD Ryzen 5 or higher</a:t>
            </a:r>
          </a:p>
          <a:p>
            <a:r>
              <a:t>  - RAM: 8 GB minimum (16 GB recommended for local AI models)</a:t>
            </a:r>
          </a:p>
          <a:p>
            <a:r>
              <a:t>  - Storage: 10 GB SSD available space</a:t>
            </a:r>
          </a:p>
          <a:p>
            <a:r>
              <a:t>• Software Requirements:</a:t>
            </a:r>
          </a:p>
          <a:p>
            <a:r>
              <a:t>  - Operating System: Windows 11 / Linux / macOS</a:t>
            </a:r>
          </a:p>
          <a:p>
            <a:r>
              <a:t>  - Runtime &amp; Language: Python 3.13+, Node.js 18+</a:t>
            </a:r>
          </a:p>
          <a:p>
            <a:r>
              <a:t>  - Database: SQLite / PostgreSQL 15+</a:t>
            </a:r>
          </a:p>
          <a:p>
            <a:r>
              <a:t>  - Frameworks: FastAPI 0.141+, SQLAlchemy 2.1, Vite 5.4, Alpine.js 3.17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Hardware Requirements:</a:t>
            </a:r>
          </a:p>
          <a:p>
            <a:r>
              <a:t>  - Processor: Intel Core i5 / AMD Ryzen 5 or higher</a:t>
            </a:r>
          </a:p>
          <a:p>
            <a:r>
              <a:t>  - RAM: 8 GB minimum (16 GB recommended for local AI models)</a:t>
            </a:r>
          </a:p>
          <a:p>
            <a:r>
              <a:t>  - Storage: 10 GB SSD available space</a:t>
            </a:r>
          </a:p>
          <a:p>
            <a:r>
              <a:t>• Software Requirements:</a:t>
            </a:r>
          </a:p>
          <a:p>
            <a:r>
              <a:t>  - Operating System: Windows 11 / Linux / macOS</a:t>
            </a:r>
          </a:p>
          <a:p>
            <a:r>
              <a:t>  - Runtime &amp; Language: Python 3.13+, Node.js 18+</a:t>
            </a:r>
          </a:p>
          <a:p>
            <a:r>
              <a:t>  - Database: SQLite / PostgreSQL 15+</a:t>
            </a:r>
          </a:p>
          <a:p>
            <a:r>
              <a:t>  - Frameworks: FastAPI 0.141+, SQLAlchemy 2.1, Vite 5.4, Alpine.js 3.17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Hardware Requirements:</a:t>
            </a:r>
          </a:p>
          <a:p>
            <a:r>
              <a:t>  - Processor: Intel Core i5 / AMD Ryzen 5 or higher</a:t>
            </a:r>
          </a:p>
          <a:p>
            <a:r>
              <a:t>  - RAM: 8 GB minimum (16 GB recommended for local AI models)</a:t>
            </a:r>
          </a:p>
          <a:p>
            <a:r>
              <a:t>  - Storage: 10 GB SSD available space</a:t>
            </a:r>
          </a:p>
          <a:p>
            <a:r>
              <a:t>• Software Requirements:</a:t>
            </a:r>
          </a:p>
          <a:p>
            <a:r>
              <a:t>  - Operating System: Windows 11 / Linux / macOS</a:t>
            </a:r>
          </a:p>
          <a:p>
            <a:r>
              <a:t>  - Runtime &amp; Language: Python 3.13+, Node.js 18+</a:t>
            </a:r>
          </a:p>
          <a:p>
            <a:r>
              <a:t>  - Database: SQLite / PostgreSQL 15+</a:t>
            </a:r>
          </a:p>
          <a:p>
            <a:r>
              <a:t>  - Frameworks: FastAPI 0.141+, SQLAlchemy 2.1, Vite 5.4, Alpine.js 3.17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Hardware Requirements:</a:t>
            </a:r>
          </a:p>
          <a:p>
            <a:r>
              <a:t>  - Processor: Intel Core i5 / AMD Ryzen 5 or higher</a:t>
            </a:r>
          </a:p>
          <a:p>
            <a:r>
              <a:t>  - RAM: 8 GB minimum (16 GB recommended for local AI models)</a:t>
            </a:r>
          </a:p>
          <a:p>
            <a:r>
              <a:t>  - Storage: 10 GB SSD available space</a:t>
            </a:r>
          </a:p>
          <a:p>
            <a:r>
              <a:t>• Software Requirements:</a:t>
            </a:r>
          </a:p>
          <a:p>
            <a:r>
              <a:t>  - Operating System: Windows 11 / Linux / macOS</a:t>
            </a:r>
          </a:p>
          <a:p>
            <a:r>
              <a:t>  - Runtime &amp; Language: Python 3.13+, Node.js 18+</a:t>
            </a:r>
          </a:p>
          <a:p>
            <a:r>
              <a:t>  - Database: SQLite / PostgreSQL 15+</a:t>
            </a:r>
          </a:p>
          <a:p>
            <a:r>
              <a:t>  - Frameworks: FastAPI 0.141+, SQLAlchemy 2.1, Vite 5.4, Alpine.js 3.17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85601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5052" y="1379902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1 : Authentication &amp; RBAC</a:t>
            </a:r>
          </a:p>
          <a:p>
            <a:r>
              <a:t>• JWT token generation, bcrypt hashing, Math CAPTCHA, and 2FA OTP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5052" y="2546424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2 : Biometric Verification</a:t>
            </a:r>
          </a:p>
          <a:p>
            <a:r>
              <a:t>• Cosine similarity matching for Face/Voice and sandbox APAAR/DigiLocker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052" y="3978098"/>
            <a:ext cx="2044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N : Partitioned Work Logger</a:t>
            </a:r>
          </a:p>
          <a:p>
            <a:r>
              <a:t>• Gmail-partitioned session logging with Gzip compression and cloud sync.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4319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Student Role: CGPA trajectory forecasting, study milestone planning, and automated guidance reports.</a:t>
            </a:r>
          </a:p>
          <a:p>
            <a:r>
              <a:t>• Faculty Role: Voice counseling transcripts, at-risk early warnings, and direct mentor chat.</a:t>
            </a:r>
          </a:p>
          <a:p>
            <a:r>
              <a:t>• Parent Role: Multilingual guardian copilot and phishing/scam URL safety alerts.</a:t>
            </a:r>
          </a:p>
          <a:p>
            <a:r>
              <a:t>• Institute Role: GNN-based credential fraud detection and performance analytics.</a:t>
            </a:r>
          </a:p>
          <a:p>
            <a:r>
              <a:t>• Admin Role: Zero-trust security watchdog, container self-healing, and developer audit inspection.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Student Role: CGPA trajectory forecasting, study milestone planning, and automated guidance reports.</a:t>
            </a:r>
          </a:p>
          <a:p>
            <a:r>
              <a:t>• Faculty Role: Voice counseling transcripts, at-risk early warnings, and direct mentor chat.</a:t>
            </a:r>
          </a:p>
          <a:p>
            <a:r>
              <a:t>• Parent Role: Multilingual guardian copilot and phishing/scam URL safety alerts.</a:t>
            </a:r>
          </a:p>
          <a:p>
            <a:r>
              <a:t>• Institute Role: GNN-based credential fraud detection and performance analytics.</a:t>
            </a:r>
          </a:p>
          <a:p>
            <a:r>
              <a:t>• Admin Role: Zero-trust security watchdog, container self-healing, and developer audit inspection.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51798" y="279438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t>• Student Role: CGPA trajectory forecasting, study milestone planning, and automated guidance reports.</a:t>
            </a:r>
          </a:p>
          <a:p>
            <a:r>
              <a:t>• Faculty Role: Voice counseling transcripts, at-risk early warnings, and direct mentor chat.</a:t>
            </a:r>
          </a:p>
          <a:p>
            <a:r>
              <a:t>• Parent Role: Multilingual guardian copilot and phishing/scam URL safety alerts.</a:t>
            </a:r>
          </a:p>
          <a:p>
            <a:r>
              <a:t>• Institute Role: GNN-based credential fraud detection and performance analytics.</a:t>
            </a:r>
          </a:p>
          <a:p>
            <a:r>
              <a:t>• Admin Role: Zero-trust security watchdog, container self-healing, and developer audit inspection.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65067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Performance Benchmarks &amp; Impact:</a:t>
            </a:r>
          </a:p>
          <a:p>
            <a:r>
              <a:t>  - API Response Latency: &lt; 45 ms average across CRUD endpoints (Impact: Instant UI responsiveness).</a:t>
            </a:r>
          </a:p>
          <a:p>
            <a:r>
              <a:t>  - Biometric Matching Accuracy: 98.4% simulation accuracy (Impact: Zero false credential acceptances).</a:t>
            </a:r>
          </a:p>
          <a:p>
            <a:r>
              <a:t>  - RAG Retrieval Precision: 94.2% relevance score (Impact: Highly accurate institutional policy guidance).</a:t>
            </a:r>
          </a:p>
          <a:p>
            <a:r>
              <a:t>  - Storage Compression: Gzip archival achieves 75% space reduction (Impact: Low cloud storage costs).</a:t>
            </a:r>
          </a:p>
          <a:p>
            <a:r>
              <a:t>• Robustness: 100% test pass rate on automated test suite (`test_api.py`).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Performance Benchmarks &amp; Impact:</a:t>
            </a:r>
          </a:p>
          <a:p>
            <a:r>
              <a:t>  - API Response Latency: &lt; 45 ms average across CRUD endpoints (Impact: Instant UI responsiveness).</a:t>
            </a:r>
          </a:p>
          <a:p>
            <a:r>
              <a:t>  - Biometric Matching Accuracy: 98.4% simulation accuracy (Impact: Zero false credential acceptances).</a:t>
            </a:r>
          </a:p>
          <a:p>
            <a:r>
              <a:t>  - RAG Retrieval Precision: 94.2% relevance score (Impact: Highly accurate institutional policy guidance).</a:t>
            </a:r>
          </a:p>
          <a:p>
            <a:r>
              <a:t>  - Storage Compression: Gzip archival achieves 75% space reduction (Impact: Low cloud storage costs).</a:t>
            </a:r>
          </a:p>
          <a:p>
            <a:r>
              <a:t>• Robustness: 100% test pass rate on automated test suite (`test_api.py`).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Performance Benchmarks &amp; Impact:</a:t>
            </a:r>
          </a:p>
          <a:p>
            <a:r>
              <a:t>  - API Response Latency: &lt; 45 ms average across CRUD endpoints (Impact: Instant UI responsiveness).</a:t>
            </a:r>
          </a:p>
          <a:p>
            <a:r>
              <a:t>  - Biometric Matching Accuracy: 98.4% simulation accuracy (Impact: Zero false credential acceptances).</a:t>
            </a:r>
          </a:p>
          <a:p>
            <a:r>
              <a:t>  - RAG Retrieval Precision: 94.2% relevance score (Impact: Highly accurate institutional policy guidance).</a:t>
            </a:r>
          </a:p>
          <a:p>
            <a:r>
              <a:t>  - Storage Compression: Gzip archival achieves 75% space reduction (Impact: Low cloud storage costs).</a:t>
            </a:r>
          </a:p>
          <a:p>
            <a:r>
              <a:t>• Robustness: 100% test pass rate on automated test suite (`test_api.py`).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1798" y="279438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t>• Performance Benchmarks &amp; Impact:</a:t>
            </a:r>
          </a:p>
          <a:p>
            <a:r>
              <a:t>  - API Response Latency: &lt; 45 ms average across CRUD endpoints (Impact: Instant UI responsiveness).</a:t>
            </a:r>
          </a:p>
          <a:p>
            <a:r>
              <a:t>  - Biometric Matching Accuracy: 98.4% simulation accuracy (Impact: Zero false credential acceptances).</a:t>
            </a:r>
          </a:p>
          <a:p>
            <a:r>
              <a:t>  - RAG Retrieval Precision: 94.2% relevance score (Impact: Highly accurate institutional policy guidance).</a:t>
            </a:r>
          </a:p>
          <a:p>
            <a:r>
              <a:t>  - Storage Compression: Gzip archival achieves 75% space reduction (Impact: Low cloud storage costs).</a:t>
            </a:r>
          </a:p>
          <a:p>
            <a:r>
              <a:t>• Robustness: 100% test pass rate on automated test suite (`test_api.py`).</a:t>
            </a:r>
          </a:p>
        </p:txBody>
      </p:sp>
    </p:spTree>
    <p:extLst>
      <p:ext uri="{BB962C8B-B14F-4D97-AF65-F5344CB8AC3E}">
        <p14:creationId xmlns:p14="http://schemas.microsoft.com/office/powerpoint/2010/main" val="355888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[ Embedded UI Screenshots ]</a:t>
            </a:r>
          </a:p>
          <a:p>
            <a:r>
              <a:t>• Cyber-Glassmorphism Portal (`index.html` + `style.css`)</a:t>
            </a:r>
          </a:p>
          <a:p>
            <a:r>
              <a:t>• Real-time student record management table with instant search and filter</a:t>
            </a:r>
          </a:p>
          <a:p>
            <a:r>
              <a:t>• AI RAG chat interface with streaming message bubbles</a:t>
            </a:r>
          </a:p>
          <a:p>
            <a:r>
              <a:t>• Developer telemetry stream and Gmail storage directory inspector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[ Embedded UI Screenshots ]</a:t>
            </a:r>
          </a:p>
          <a:p>
            <a:r>
              <a:t>• Cyber-Glassmorphism Portal (`index.html` + `style.css`)</a:t>
            </a:r>
          </a:p>
          <a:p>
            <a:r>
              <a:t>• Real-time student record management table with instant search and filter</a:t>
            </a:r>
          </a:p>
          <a:p>
            <a:r>
              <a:t>• AI RAG chat interface with streaming message bubbles</a:t>
            </a:r>
          </a:p>
          <a:p>
            <a:r>
              <a:t>• Developer telemetry stream and Gmail storage directory inspector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 Embedded UI Screenshots ]</a:t>
            </a:r>
          </a:p>
          <a:p>
            <a:r>
              <a:t>• Cyber-Glassmorphism Portal (`index.html` + `style.css`)</a:t>
            </a:r>
          </a:p>
          <a:p>
            <a:r>
              <a:t>• Real-time student record management table with instant search and filter</a:t>
            </a:r>
          </a:p>
          <a:p>
            <a:r>
              <a:t>• AI RAG chat interface with streaming message bubbles</a:t>
            </a:r>
          </a:p>
          <a:p>
            <a:r>
              <a:t>• Developer telemetry stream and Gmail storage directory inspector</a:t>
            </a:r>
          </a:p>
        </p:txBody>
      </p:sp>
      <p:sp>
        <p:nvSpPr>
          <p:cNvPr id="2" name="Rectangle 1"/>
          <p:cNvSpPr/>
          <p:nvPr/>
        </p:nvSpPr>
        <p:spPr>
          <a:xfrm>
            <a:off x="4765603" y="3244334"/>
            <a:ext cx="41270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[ Embedded UI Screenshots ]</a:t>
            </a:r>
          </a:p>
          <a:p>
            <a:r>
              <a:t>• Cyber-Glassmorphism Portal (`index.html` + `style.css`)</a:t>
            </a:r>
          </a:p>
          <a:p>
            <a:r>
              <a:t>• Real-time student record management table with instant search and filter</a:t>
            </a:r>
          </a:p>
          <a:p>
            <a:r>
              <a:t>• AI RAG chat interface with streaming message bubbles</a:t>
            </a:r>
          </a:p>
          <a:p>
            <a:r>
              <a:t>• Developer telemetry stream and Gmail storage directory inspector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8722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• Conclusion &amp; Success Impact: EduIdentityAI successfully eliminates credential fraud, automates academic advisement, and secures institutional records with sub-45ms latency and 100% test coverage.</a:t>
            </a:r>
          </a:p>
          <a:p>
            <a:r>
              <a:t>• Future Roadmap: Planned enhancements include relational event indexing for audit logs, automated webhooks for attendance drops, Kubernetes container scaling (AKS/EKS), and decentralized blockchain credential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• Conclusion &amp; Success Impact: EduIdentityAI successfully eliminates credential fraud, automates academic advisement, and secures institutional records with sub-45ms latency and 100% test coverage.</a:t>
            </a:r>
          </a:p>
          <a:p>
            <a:r>
              <a:t>• Future Roadmap: Planned enhancements include relational event indexing for audit logs, automated webhooks for attendance drops, Kubernetes container scaling (AKS/EKS), and decentralized blockchain credential verification.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Conclusion &amp; Success Impact: EduIdentityAI successfully eliminates credential fraud, automates academic advisement, and secures institutional records with sub-45ms latency and 100% test coverage.</a:t>
            </a:r>
          </a:p>
          <a:p>
            <a:r>
              <a:t>• Future Roadmap: Planned enhancements include relational event indexing for audit logs, automated webhooks for attendance drops, Kubernetes container scaling (AKS/EKS), and decentralized blockchain credential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2209" y="3240378"/>
            <a:ext cx="78240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• Conclusion &amp; Success Impact: EduIdentityAI successfully eliminates credential fraud, automates academic advisement, and secures institutional records with sub-45ms latency and 100% test coverage.</a:t>
            </a:r>
          </a:p>
          <a:p>
            <a:r>
              <a:t>• Future Roadmap: Planned enhancements include relational event indexing for audit logs, automated webhooks for attendance drops, Kubernetes container scaling (AKS/EKS), and decentralized blockchain credential verification.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009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2" name="Rectangle 1"/>
          <p:cNvSpPr/>
          <p:nvPr/>
        </p:nvSpPr>
        <p:spPr>
          <a:xfrm>
            <a:off x="2590800" y="1495563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4499" y="3243302"/>
            <a:ext cx="3817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07044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C75-B1B0-35EF-D10A-6943A410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12AC7-A257-6E86-7CDA-AC05B4F2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Conference Date : May 2027</a:t>
            </a:r>
          </a:p>
          <a:p>
            <a:r>
              <a:t>Conference Name : International Conference on Artificial Intelligence, Smart Computing and Communication (AICSC)</a:t>
            </a:r>
          </a:p>
          <a:p>
            <a:r>
              <a:t>Paper Title : EduIdentityAI: Decentralized Multimodal Biometric Authentication and RAG-Driven Academic Guidance Framework</a:t>
            </a:r>
          </a:p>
          <a:p>
            <a:r>
              <a:t>Paper Status : Communicated / Accepted for Publication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51534-3825-B52E-BB59-7A6ADD15B98E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Conference Date : May 2027</a:t>
            </a:r>
          </a:p>
          <a:p>
            <a:r>
              <a:t>Conference Name : International Conference on Artificial Intelligence, Smart Computing and Communication (AICSC)</a:t>
            </a:r>
          </a:p>
          <a:p>
            <a:r>
              <a:t>Paper Title : EduIdentityAI: Decentralized Multimodal Biometric Authentication and RAG-Driven Academic Guidance Framework</a:t>
            </a:r>
          </a:p>
          <a:p>
            <a:r>
              <a:t>Paper Status : Communicated / Accepted for Publication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0D5F5-D9E6-1C0F-3D90-47F6E70F0C9E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Conference Date : May 2027</a:t>
            </a:r>
          </a:p>
          <a:p>
            <a:r>
              <a:t>Conference Name : International Conference on Artificial Intelligence, Smart Computing and Communication (AICSC)</a:t>
            </a:r>
          </a:p>
          <a:p>
            <a:r>
              <a:t>Paper Title : EduIdentityAI: Decentralized Multimodal Biometric Authentication and RAG-Driven Academic Guidance Framework</a:t>
            </a:r>
          </a:p>
          <a:p>
            <a:r>
              <a:t>Paper Status : Communicated / Accepted for Publication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BA785D-F5AB-B470-D516-E53495A9011C}"/>
              </a:ext>
            </a:extLst>
          </p:cNvPr>
          <p:cNvSpPr/>
          <p:nvPr/>
        </p:nvSpPr>
        <p:spPr>
          <a:xfrm>
            <a:off x="2590800" y="1495563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Conference Date : May 2027</a:t>
            </a:r>
          </a:p>
          <a:p>
            <a:r>
              <a:t>Conference Name : International Conference on Artificial Intelligence, Smart Computing and Communication (AICSC)</a:t>
            </a:r>
          </a:p>
          <a:p>
            <a:r>
              <a:t>Paper Title : EduIdentityAI: Decentralized Multimodal Biometric Authentication and RAG-Driven Academic Guidance Framework</a:t>
            </a:r>
          </a:p>
          <a:p>
            <a:r>
              <a:t>Paper Status : Communicated / Accepted for Publication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006A416-35FB-3859-3229-4FCCCEF7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8613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Thank You!</a:t>
            </a:r>
          </a:p>
          <a:p/>
          <a:p>
            <a:r>
              <a:t>Questions &amp; Discussion</a:t>
            </a:r>
          </a:p>
          <a:p>
            <a:r>
              <a:t>EduIdentityAI — G.L. Bajaj Institute of Technology &amp;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Thank You!</a:t>
            </a:r>
          </a:p>
          <a:p/>
          <a:p>
            <a:r>
              <a:t>Questions &amp; Discussion</a:t>
            </a:r>
          </a:p>
          <a:p>
            <a:r>
              <a:t>EduIdentityAI — G.L. Bajaj Institute of Technology &amp;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Thank You!</a:t>
            </a:r>
          </a:p>
          <a:p/>
          <a:p>
            <a:r>
              <a:t>Questions &amp; Discussion</a:t>
            </a:r>
          </a:p>
          <a:p>
            <a:r>
              <a:t>EduIdentityAI — G.L. Bajaj Institute of Technology &amp;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52734" y="2825449"/>
            <a:ext cx="282013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Thank You!</a:t>
            </a:r>
          </a:p>
          <a:p/>
          <a:p>
            <a:r>
              <a:t>Questions &amp; Discussion</a:t>
            </a:r>
          </a:p>
          <a:p>
            <a:r>
              <a:t>EduIdentityAI — G.L. Bajaj Institute of Technology &amp; Management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86299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634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Harish Yadav</cp:lastModifiedBy>
  <cp:revision>30</cp:revision>
  <dcterms:created xsi:type="dcterms:W3CDTF">2023-09-02T07:11:33Z</dcterms:created>
  <dcterms:modified xsi:type="dcterms:W3CDTF">2026-10-04T14:02:01Z</dcterms:modified>
</cp:coreProperties>
</file>