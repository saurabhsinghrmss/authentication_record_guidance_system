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83" r:id="rId4"/>
    <p:sldId id="284" r:id="rId5"/>
    <p:sldId id="285" r:id="rId6"/>
    <p:sldId id="286" r:id="rId7"/>
    <p:sldId id="287" r:id="rId8"/>
    <p:sldId id="275" r:id="rId9"/>
    <p:sldId id="276" r:id="rId10"/>
    <p:sldId id="282" r:id="rId11"/>
    <p:sldId id="260" r:id="rId12"/>
    <p:sldId id="277" r:id="rId13"/>
    <p:sldId id="278" r:id="rId14"/>
    <p:sldId id="261" r:id="rId15"/>
    <p:sldId id="265" r:id="rId16"/>
    <p:sldId id="266" r:id="rId17"/>
    <p:sldId id="268" r:id="rId18"/>
    <p:sldId id="288" r:id="rId19"/>
    <p:sldId id="279" r:id="rId20"/>
    <p:sldId id="269" r:id="rId21"/>
    <p:sldId id="271" r:id="rId22"/>
    <p:sldId id="281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3CB68-A15D-45D4-A5BC-E24D5D171A56}" v="851" dt="2026-10-12T21:02:10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1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5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6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39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8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3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8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30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22670-E22D-8C86-C230-98DB37C4A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DEEF-A1EC-5E39-A3DC-F80F3524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6421835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2518A-4C30-6974-2B47-D1DFBC7D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435527"/>
            <a:ext cx="4914900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183E3-CCC9-82B0-E4C0-608939E3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500" y="6421834"/>
            <a:ext cx="2743200" cy="365125"/>
          </a:xfrm>
        </p:spPr>
        <p:txBody>
          <a:bodyPr/>
          <a:lstStyle/>
          <a:p>
            <a:fld id="{BC58B3AD-D297-1047-9FAD-E399140930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B2BAF-4E46-E1E5-2A03-488E5A4E8B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48256" cy="6827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7C9AFA-0506-58E4-7332-7D31F2B82E1A}"/>
              </a:ext>
            </a:extLst>
          </p:cNvPr>
          <p:cNvCxnSpPr>
            <a:cxnSpLocks/>
          </p:cNvCxnSpPr>
          <p:nvPr userDrawn="1"/>
        </p:nvCxnSpPr>
        <p:spPr>
          <a:xfrm>
            <a:off x="0" y="640913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78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1C0C-BF6F-4E86-B49A-DAD3769A8CC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4298-AB9C-47C9-878C-0F795DF0A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C96AF-4D86-8F19-0B71-2C7DCF93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196"/>
            <a:ext cx="2133600" cy="1903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2919715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dirty="0" err="1"/>
              <a:t>EduIdentityAI</a:t>
            </a:r>
            <a:r>
              <a:rPr dirty="0"/>
              <a:t>: Student Authentication, Record &amp; Guidance System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383574" y="4278955"/>
            <a:ext cx="247176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SAURABH</a:t>
            </a:r>
            <a:r>
              <a:rPr lang="en-US" dirty="0">
                <a:ea typeface="Calibri"/>
                <a:cs typeface="Calibri"/>
              </a:rPr>
              <a:t> SINGH </a:t>
            </a:r>
            <a:endParaRPr lang="en-US" dirty="0"/>
          </a:p>
          <a:p>
            <a:r>
              <a:rPr lang="en-US">
                <a:ea typeface="Calibri"/>
                <a:cs typeface="Calibri"/>
              </a:rPr>
              <a:t>SARVENDRA SINGH</a:t>
            </a:r>
          </a:p>
          <a:p>
            <a:r>
              <a:rPr lang="en-US">
                <a:ea typeface="+mn-lt"/>
                <a:cs typeface="+mn-lt"/>
              </a:rPr>
              <a:t>Samarth</a:t>
            </a:r>
          </a:p>
          <a:p>
            <a:r>
              <a:rPr lang="en-US">
                <a:ea typeface="+mn-lt"/>
                <a:cs typeface="+mn-lt"/>
              </a:rPr>
              <a:t>Sakshar Jain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937937" y="4203673"/>
            <a:ext cx="277968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t>UNDER SUPERVISION OF :</a:t>
            </a:r>
          </a:p>
          <a:p>
            <a:r>
              <a:t>Faculty Supervisor Name</a:t>
            </a:r>
          </a:p>
          <a:p>
            <a:r>
              <a:t>Assistant Professor,</a:t>
            </a:r>
            <a:endParaRPr lang="en-US"/>
          </a:p>
          <a:p>
            <a:r>
              <a:t>CSE-AIML</a:t>
            </a:r>
          </a:p>
          <a:p>
            <a:endParaRPr lang="en-US" dirty="0"/>
          </a:p>
          <a:p>
            <a:r>
              <a:t>G.L. Bajaj Institute of Technology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86152" y="2304132"/>
            <a:ext cx="232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SESSION 2026-2027</a:t>
            </a:r>
          </a:p>
        </p:txBody>
      </p:sp>
    </p:spTree>
    <p:extLst>
      <p:ext uri="{BB962C8B-B14F-4D97-AF65-F5344CB8AC3E}">
        <p14:creationId xmlns:p14="http://schemas.microsoft.com/office/powerpoint/2010/main" val="395078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INTRODUCTION OF THE PROJECT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2323" y="1218590"/>
            <a:ext cx="8299451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dirty="0"/>
              <a:t> </a:t>
            </a:r>
            <a:r>
              <a:rPr b="1" dirty="0"/>
              <a:t>Platform Overview:</a:t>
            </a:r>
            <a:r>
              <a:rPr dirty="0"/>
              <a:t> </a:t>
            </a:r>
            <a:endParaRPr lang="en-US"/>
          </a:p>
          <a:p>
            <a:pPr lvl="1"/>
            <a:r>
              <a:rPr err="1"/>
              <a:t>EduIdentityAI</a:t>
            </a:r>
            <a:r>
              <a:rPr dirty="0"/>
              <a:t> is an enterprise-grade academic identity management, record governance, and AI-driven student guidance platform.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dirty="0"/>
              <a:t> </a:t>
            </a:r>
            <a:r>
              <a:rPr b="1" dirty="0"/>
              <a:t>Core Innovations:</a:t>
            </a:r>
            <a:r>
              <a:rPr dirty="0"/>
              <a:t> </a:t>
            </a:r>
            <a:endParaRPr lang="en-US" dirty="0"/>
          </a:p>
          <a:p>
            <a:pPr lvl="1"/>
            <a:r>
              <a:rPr dirty="0"/>
              <a:t>Integrates multi-factor authentication, simulated multimodal biometric verification (Face, Voice, OCR), national credential verification</a:t>
            </a:r>
            <a:r>
              <a:rPr lang="en-US" dirty="0"/>
              <a:t> </a:t>
            </a:r>
            <a:r>
              <a:rPr dirty="0"/>
              <a:t>(APAAR/</a:t>
            </a:r>
            <a:r>
              <a:rPr dirty="0" err="1"/>
              <a:t>DigiLocker</a:t>
            </a:r>
            <a:r>
              <a:rPr dirty="0"/>
              <a:t>), and dense RAG academic advisement.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dirty="0"/>
              <a:t> </a:t>
            </a:r>
            <a:r>
              <a:rPr b="1"/>
              <a:t>Governance &amp; Telemetry:</a:t>
            </a:r>
            <a:r>
              <a:rPr dirty="0"/>
              <a:t> </a:t>
            </a:r>
            <a:endParaRPr lang="en-US" dirty="0"/>
          </a:p>
          <a:p>
            <a:pPr lvl="1"/>
            <a:r>
              <a:t>Implements Role-Based Access Control (RBAC), Gmail-partitioned user work logging, multi-cloud storage synchronization, and real-time WebSocket telemetry.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dirty="0"/>
              <a:t> </a:t>
            </a:r>
            <a:r>
              <a:rPr b="1" dirty="0"/>
              <a:t>Modern Tech Stack:</a:t>
            </a:r>
            <a:r>
              <a:rPr dirty="0"/>
              <a:t> </a:t>
            </a:r>
            <a:endParaRPr lang="en-US" dirty="0"/>
          </a:p>
          <a:p>
            <a:pPr lvl="1"/>
            <a:r>
              <a:rPr err="1"/>
              <a:t>FastAPI</a:t>
            </a:r>
            <a:r>
              <a:rPr dirty="0"/>
              <a:t> backend (Python 3.13), </a:t>
            </a:r>
            <a:r>
              <a:rPr err="1"/>
              <a:t>SQLAlchemy</a:t>
            </a:r>
            <a:r>
              <a:rPr dirty="0"/>
              <a:t> 2.0 ORM, Lit &amp; Alpine.js cyber-</a:t>
            </a:r>
            <a:r>
              <a:rPr err="1"/>
              <a:t>glassmorphism</a:t>
            </a:r>
            <a:r>
              <a:rPr dirty="0"/>
              <a:t> frontend.</a:t>
            </a:r>
            <a:endParaRPr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5573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DF48A7-3F7C-DDF1-5543-3C9FC09A3E25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1B75FD-AA6F-028E-F41A-5F1CB015C671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cs typeface="Times New Roman"/>
              </a:rPr>
              <a:t>LITERATURE SURVEY 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24895D-1415-B245-6DF2-67EE0B8E9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53432"/>
              </p:ext>
            </p:extLst>
          </p:nvPr>
        </p:nvGraphicFramePr>
        <p:xfrm>
          <a:off x="2200829" y="1214567"/>
          <a:ext cx="9925319" cy="40919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02515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endParaRPr lang="en-US" sz="12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1645153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88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97E585-AE9E-CFE3-B2D1-5EA9AB062428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77E18F-C8A9-68F0-57A0-ECAE0C159933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cs typeface="Times New Roman"/>
              </a:rPr>
              <a:t>LITERATURE SURVEY 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20C00D-B948-708F-39FC-A4817E518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616299"/>
              </p:ext>
            </p:extLst>
          </p:nvPr>
        </p:nvGraphicFramePr>
        <p:xfrm>
          <a:off x="2200829" y="1214567"/>
          <a:ext cx="9925319" cy="4438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371348"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27228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56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5B63-2122-C42E-9F1F-B0A1649B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153794-CE8D-98FA-284F-A490FE5E2C77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4850A-FAA4-302C-21AB-7F85B4CEDE0C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cs typeface="Times New Roman"/>
              </a:rPr>
              <a:t>LITERATURE SURVEY 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F2EC8B-D1BE-2E2A-BBA4-6276DAA92538}"/>
              </a:ext>
            </a:extLst>
          </p:cNvPr>
          <p:cNvGraphicFramePr>
            <a:graphicFrameLocks noGrp="1"/>
          </p:cNvGraphicFramePr>
          <p:nvPr/>
        </p:nvGraphicFramePr>
        <p:xfrm>
          <a:off x="2200829" y="1214567"/>
          <a:ext cx="9925319" cy="4438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371348"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27228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81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CFBCF-8A8D-550F-797E-AB357DB7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8250FC-B02E-F240-43D4-701C562CBB66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0AFCBD-0E68-A180-CBDB-6AB7EF8EBEB5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cs typeface="Times New Roman"/>
              </a:rPr>
              <a:t>LITERATURE SURVEY 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47AC47-801E-E4B5-9A02-7B5358C25121}"/>
              </a:ext>
            </a:extLst>
          </p:cNvPr>
          <p:cNvGraphicFramePr>
            <a:graphicFrameLocks noGrp="1"/>
          </p:cNvGraphicFramePr>
          <p:nvPr/>
        </p:nvGraphicFramePr>
        <p:xfrm>
          <a:off x="2200829" y="1214567"/>
          <a:ext cx="9925319" cy="4438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371348"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27228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589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337C1-DB9D-8A3B-14FE-7E5A74FC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A6B2C-C74F-1BE9-BA18-C5182024FD46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AE13A2-302E-8716-1BAA-C8ECE48F982A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cs typeface="Times New Roman"/>
              </a:rPr>
              <a:t>LITERATURE SURVEY </a:t>
            </a:r>
            <a:endParaRPr lang="en-US" sz="28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4A20ED-B250-F1E6-DC70-EC89878CEEF9}"/>
              </a:ext>
            </a:extLst>
          </p:cNvPr>
          <p:cNvGraphicFramePr>
            <a:graphicFrameLocks noGrp="1"/>
          </p:cNvGraphicFramePr>
          <p:nvPr/>
        </p:nvGraphicFramePr>
        <p:xfrm>
          <a:off x="2200829" y="1214567"/>
          <a:ext cx="9925319" cy="4438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897">
                  <a:extLst>
                    <a:ext uri="{9D8B030D-6E8A-4147-A177-3AD203B41FA5}">
                      <a16:colId xmlns:a16="http://schemas.microsoft.com/office/drawing/2014/main" val="619600454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2493005940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3633730045"/>
                    </a:ext>
                  </a:extLst>
                </a:gridCol>
                <a:gridCol w="1030328">
                  <a:extLst>
                    <a:ext uri="{9D8B030D-6E8A-4147-A177-3AD203B41FA5}">
                      <a16:colId xmlns:a16="http://schemas.microsoft.com/office/drawing/2014/main" val="4135978903"/>
                    </a:ext>
                  </a:extLst>
                </a:gridCol>
                <a:gridCol w="1766928">
                  <a:extLst>
                    <a:ext uri="{9D8B030D-6E8A-4147-A177-3AD203B41FA5}">
                      <a16:colId xmlns:a16="http://schemas.microsoft.com/office/drawing/2014/main" val="2394670440"/>
                    </a:ext>
                  </a:extLst>
                </a:gridCol>
                <a:gridCol w="1088031">
                  <a:extLst>
                    <a:ext uri="{9D8B030D-6E8A-4147-A177-3AD203B41FA5}">
                      <a16:colId xmlns:a16="http://schemas.microsoft.com/office/drawing/2014/main" val="2065399018"/>
                    </a:ext>
                  </a:extLst>
                </a:gridCol>
                <a:gridCol w="867225">
                  <a:extLst>
                    <a:ext uri="{9D8B030D-6E8A-4147-A177-3AD203B41FA5}">
                      <a16:colId xmlns:a16="http://schemas.microsoft.com/office/drawing/2014/main" val="2966044764"/>
                    </a:ext>
                  </a:extLst>
                </a:gridCol>
                <a:gridCol w="809071">
                  <a:extLst>
                    <a:ext uri="{9D8B030D-6E8A-4147-A177-3AD203B41FA5}">
                      <a16:colId xmlns:a16="http://schemas.microsoft.com/office/drawing/2014/main" val="1579613687"/>
                    </a:ext>
                  </a:extLst>
                </a:gridCol>
                <a:gridCol w="876496">
                  <a:extLst>
                    <a:ext uri="{9D8B030D-6E8A-4147-A177-3AD203B41FA5}">
                      <a16:colId xmlns:a16="http://schemas.microsoft.com/office/drawing/2014/main" val="3568166840"/>
                    </a:ext>
                  </a:extLst>
                </a:gridCol>
                <a:gridCol w="890687">
                  <a:extLst>
                    <a:ext uri="{9D8B030D-6E8A-4147-A177-3AD203B41FA5}">
                      <a16:colId xmlns:a16="http://schemas.microsoft.com/office/drawing/2014/main" val="2616531622"/>
                    </a:ext>
                  </a:extLst>
                </a:gridCol>
              </a:tblGrid>
              <a:tr h="8823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No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Date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Author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Paper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Published in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(Journal Name..)</a:t>
                      </a: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Conceptual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Framework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Methodology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Conclusion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Future research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4146508115"/>
                  </a:ext>
                </a:extLst>
              </a:tr>
              <a:tr h="3371348"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marL="52899" marR="52899" marT="0" marB="0"/>
                </a:tc>
                <a:extLst>
                  <a:ext uri="{0D108BD9-81ED-4DB2-BD59-A6C34878D82A}">
                    <a16:rowId xmlns:a16="http://schemas.microsoft.com/office/drawing/2014/main" val="27228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35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EXISTING SYSTEM/RELATED WORK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3323" y="1168459"/>
            <a:ext cx="8299451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b="1"/>
              <a:t> Traditional Portals: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t>Static credentials vulnerable to credential stuffing; lack integrated biometric verification.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b="1" dirty="0"/>
              <a:t> Fragmented Verification: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rPr dirty="0"/>
              <a:t>Manual degree verification and APAAR/</a:t>
            </a:r>
            <a:r>
              <a:rPr dirty="0" err="1"/>
              <a:t>DigiLocker</a:t>
            </a:r>
            <a:r>
              <a:rPr dirty="0"/>
              <a:t> checks cause administrative bottlenecks.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b="1"/>
              <a:t> Cross-Role Friction: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t>Analysis reveals systemic bottlenecks (e.g., stale faculty attendance data delaying parent alerts, pending admin approvals delaying student exams).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b="1"/>
              <a:t> Isolated Logs:</a:t>
            </a:r>
            <a:endParaRPr lang="en-US" b="1">
              <a:ea typeface="Calibri"/>
              <a:cs typeface="Calibri"/>
            </a:endParaRPr>
          </a:p>
          <a:p>
            <a:pPr lvl="1"/>
            <a:r>
              <a:rPr lang="en-US" dirty="0"/>
              <a:t> </a:t>
            </a:r>
            <a:r>
              <a:t>Conventional audit logs lack unified cross-user query capabilities without centralized relational indexing.</a:t>
            </a:r>
            <a:endParaRPr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12497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55737" y="1348518"/>
            <a:ext cx="6994357" cy="5027361"/>
          </a:xfrm>
        </p:spPr>
        <p:txBody>
          <a:bodyPr/>
          <a:lstStyle/>
          <a:p>
            <a:r>
              <a:t>.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MOTIVATION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5E9A9-810B-9179-CCF4-A56F2E909D25}"/>
              </a:ext>
            </a:extLst>
          </p:cNvPr>
          <p:cNvSpPr txBox="1"/>
          <p:nvPr/>
        </p:nvSpPr>
        <p:spPr>
          <a:xfrm>
            <a:off x="3051292" y="1544342"/>
            <a:ext cx="7819170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ea typeface="Calibri"/>
                <a:cs typeface="Calibri"/>
              </a:rPr>
              <a:t> Security Imperative: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rPr lang="en-US">
                <a:ea typeface="Calibri"/>
                <a:cs typeface="Calibri"/>
              </a:rPr>
              <a:t>Eliminate credential fraud and unauthorized transcript alterations through cryptographic hashing and zero-trust token revocation.</a:t>
            </a:r>
          </a:p>
          <a:p>
            <a:pPr marL="285750" indent="-285750"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Calibri"/>
                <a:cs typeface="Calibri"/>
              </a:rPr>
              <a:t> Student Success: </a:t>
            </a:r>
            <a:endParaRPr lang="en-US" b="1" dirty="0">
              <a:ea typeface="Calibri"/>
              <a:cs typeface="Calibri"/>
            </a:endParaRPr>
          </a:p>
          <a:p>
            <a:pPr lvl="1"/>
            <a:r>
              <a:rPr lang="en-US">
                <a:ea typeface="Calibri"/>
                <a:cs typeface="Calibri"/>
              </a:rPr>
              <a:t>Provide proactive early-warning interventions for at-risk students based on attendance drops and credit backlogs.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 </a:t>
            </a:r>
            <a:r>
              <a:rPr lang="en-US" b="1">
                <a:ea typeface="Calibri"/>
                <a:cs typeface="Calibri"/>
              </a:rPr>
              <a:t>Operational Efficiency: </a:t>
            </a:r>
          </a:p>
          <a:p>
            <a:pPr lvl="1"/>
            <a:r>
              <a:rPr lang="en-US">
                <a:ea typeface="Calibri"/>
                <a:cs typeface="Calibri"/>
              </a:rPr>
              <a:t>Automate institutional record governance, reducing manual overhead for faculty and administrators.</a:t>
            </a:r>
          </a:p>
          <a:p>
            <a:pPr marL="285750" indent="-285750"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Calibri"/>
                <a:cs typeface="Calibri"/>
              </a:rPr>
              <a:t> Developer Resilience: </a:t>
            </a:r>
          </a:p>
          <a:p>
            <a:pPr lvl="1"/>
            <a:r>
              <a:rPr lang="en-US" dirty="0">
                <a:ea typeface="Calibri"/>
                <a:cs typeface="Calibri"/>
              </a:rPr>
              <a:t>Establish permanent universal developer accounts (`</a:t>
            </a:r>
            <a:r>
              <a:rPr lang="en-US" dirty="0" err="1">
                <a:ea typeface="Calibri"/>
                <a:cs typeface="Calibri"/>
              </a:rPr>
              <a:t>msrch</a:t>
            </a:r>
            <a:r>
              <a:rPr lang="en-US" dirty="0">
                <a:ea typeface="Calibri"/>
                <a:cs typeface="Calibri"/>
              </a:rPr>
              <a:t>`) with immutable anti-deletion triggers for robust debugging.</a:t>
            </a: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538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8131-228B-589C-3B5E-6AA2AAA7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0100C7-43F8-3759-E177-D2734D35EEA7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3A789-4FE2-96FC-020B-48BCAAA0F711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PROBLEM STATEMENT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30B6745-4EF8-9B09-86CB-E5F4B8C6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5C6B03-5287-AA2D-24CE-631EBD8B2C21}"/>
              </a:ext>
            </a:extLst>
          </p:cNvPr>
          <p:cNvSpPr txBox="1"/>
          <p:nvPr/>
        </p:nvSpPr>
        <p:spPr>
          <a:xfrm>
            <a:off x="3133868" y="1541863"/>
            <a:ext cx="824834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To design and implement a secure, modular academic identity management and record governance platform that: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Enforces strict multi-factor authentication and multimodal biometric verification.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Integrates dense Retrieval-Augmented Generation (RAG) for instant academic policy </a:t>
            </a:r>
            <a:r>
              <a:rPr lang="en-US" dirty="0">
                <a:ea typeface="Calibri"/>
                <a:cs typeface="Calibri"/>
              </a:rPr>
              <a:t>queries.</a:t>
            </a: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Provides isolated Gmail-partitioned user work logging and multi-cloud </a:t>
            </a:r>
            <a:r>
              <a:rPr lang="en-US" dirty="0">
                <a:ea typeface="Calibri"/>
                <a:cs typeface="Calibri"/>
              </a:rPr>
              <a:t>synchronization.</a:t>
            </a: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Delivers seamless cross-role coordination for students, faculty, parents, institutes, </a:t>
            </a:r>
            <a:r>
              <a:rPr lang="en-US" dirty="0">
                <a:ea typeface="Calibri"/>
                <a:cs typeface="Calibri"/>
              </a:rPr>
              <a:t>and administrators.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21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OBECTIVES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459872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b="1"/>
              <a:t>Multi-Tier Authentication:</a:t>
            </a:r>
            <a:endParaRPr lang="en-US" b="1">
              <a:ea typeface="Calibri"/>
              <a:cs typeface="Calibri"/>
            </a:endParaRPr>
          </a:p>
          <a:p>
            <a:pPr lvl="1"/>
            <a:r>
              <a:rPr lang="en-US" dirty="0"/>
              <a:t> </a:t>
            </a:r>
            <a:r>
              <a:rPr dirty="0"/>
              <a:t>Secure login with </a:t>
            </a:r>
            <a:r>
              <a:rPr dirty="0" err="1"/>
              <a:t>bcrypt</a:t>
            </a:r>
            <a:r>
              <a:rPr dirty="0"/>
              <a:t>, JWT, Math CAPTCHA, and 2FA OTP.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b="1"/>
              <a:t>Multimodal Biometrics: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t>Simulate neural feature extraction across Face, Voice, and </a:t>
            </a:r>
            <a:r>
              <a:rPr dirty="0"/>
              <a:t>OCR.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b="1"/>
              <a:t>AI Guidance Engine: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t>RAG advisement and automated CGPA trajectory prediction.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b="1" dirty="0"/>
              <a:t>Granular Audit &amp; Storage: </a:t>
            </a:r>
            <a:endParaRPr lang="en-US" b="1">
              <a:ea typeface="Calibri"/>
              <a:cs typeface="Calibri"/>
            </a:endParaRPr>
          </a:p>
          <a:p>
            <a:pPr lvl="1"/>
            <a:r>
              <a:rPr dirty="0"/>
              <a:t>Gmail-partitioned session work logging with </a:t>
            </a:r>
            <a:r>
              <a:rPr dirty="0" err="1"/>
              <a:t>Gzip</a:t>
            </a:r>
            <a:r>
              <a:rPr lang="en-US" dirty="0"/>
              <a:t> </a:t>
            </a:r>
            <a:r>
              <a:rPr dirty="0"/>
              <a:t>compression and GCS/S3 sync.</a:t>
            </a:r>
            <a:endParaRPr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410681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PROPOSED METHODOLOGY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5056" y="1704858"/>
            <a:ext cx="9045795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dirty="0"/>
              <a:t>Step 1: Architectural Design &amp; Modular Separation (</a:t>
            </a:r>
            <a:r>
              <a:rPr dirty="0" err="1"/>
              <a:t>FastAPI</a:t>
            </a:r>
            <a:r>
              <a:rPr dirty="0"/>
              <a:t> backend + Lit/Alpine frontend).</a:t>
            </a:r>
          </a:p>
          <a:p>
            <a:endParaRPr lang="en-US" dirty="0"/>
          </a:p>
          <a:p>
            <a:r>
              <a:rPr dirty="0"/>
              <a:t>Step 2: Database Modeling (</a:t>
            </a:r>
            <a:r>
              <a:rPr dirty="0" err="1"/>
              <a:t>SQLAlchemy</a:t>
            </a:r>
            <a:r>
              <a:rPr dirty="0"/>
              <a:t> 2.0 ORM with SQLite/PostgreSQL and Alembic migrations).</a:t>
            </a:r>
            <a:endParaRPr dirty="0">
              <a:ea typeface="Calibri"/>
              <a:cs typeface="Calibri"/>
            </a:endParaRPr>
          </a:p>
          <a:p>
            <a:endParaRPr lang="en-US" dirty="0"/>
          </a:p>
          <a:p>
            <a:r>
              <a:rPr dirty="0"/>
              <a:t>Step 3: Security &amp; Middleware Integration (</a:t>
            </a:r>
            <a:r>
              <a:rPr dirty="0" err="1"/>
              <a:t>RateLimiterMiddleware</a:t>
            </a:r>
            <a:r>
              <a:rPr dirty="0"/>
              <a:t>, JWT validation, anti-deletion triggers).</a:t>
            </a:r>
            <a:endParaRPr dirty="0">
              <a:ea typeface="Calibri"/>
              <a:cs typeface="Calibri"/>
            </a:endParaRPr>
          </a:p>
          <a:p>
            <a:endParaRPr lang="en-US" dirty="0"/>
          </a:p>
          <a:p>
            <a:r>
              <a:t>Step 4: AI &amp; Biometric Pipeline Integration (Embedding search, cosine similarity, RAG router).</a:t>
            </a:r>
          </a:p>
          <a:p>
            <a:endParaRPr lang="en-US" dirty="0"/>
          </a:p>
          <a:p>
            <a:r>
              <a:t>Step 5: Partitioned Logging &amp; Cloud Sync Adapter (Local JSONL tracking + multi-cloud bucket staging).</a:t>
            </a:r>
          </a:p>
        </p:txBody>
      </p:sp>
    </p:spTree>
    <p:extLst>
      <p:ext uri="{BB962C8B-B14F-4D97-AF65-F5344CB8AC3E}">
        <p14:creationId xmlns:p14="http://schemas.microsoft.com/office/powerpoint/2010/main" val="1771759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DESCRIPTION OF PROJECT (In Form Of Diagram)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66286" y="1341266"/>
            <a:ext cx="877226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400"/>
              <a:t>BASE WORK:</a:t>
            </a:r>
            <a:endParaRPr lang="en-US" sz="1400">
              <a:ea typeface="Calibri"/>
              <a:cs typeface="Calibri"/>
            </a:endParaRPr>
          </a:p>
          <a:p>
            <a:r>
              <a:rPr sz="1400"/>
              <a:t>Traditional relational student databases and static authentication portals.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5713" y="2567121"/>
            <a:ext cx="8574559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400"/>
              <a:t>MODIFICATIONS:</a:t>
            </a:r>
            <a:endParaRPr lang="en-US" sz="1400">
              <a:ea typeface="Calibri"/>
              <a:cs typeface="Calibri"/>
            </a:endParaRPr>
          </a:p>
          <a:p>
            <a:r>
              <a:rPr sz="1400"/>
              <a:t>Multimodal neural biometrics (Face/Voice/OCR), Qwen3 RAG vector search, Gmail-partitioned logging, and cross-role dependency mapping.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49469" y="3797300"/>
            <a:ext cx="854762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400"/>
              <a:t>EXPECTED RESULT:</a:t>
            </a:r>
            <a:endParaRPr lang="en-US" sz="1400">
              <a:ea typeface="Calibri"/>
              <a:cs typeface="Calibri"/>
            </a:endParaRPr>
          </a:p>
          <a:p>
            <a:r>
              <a:rPr sz="1400"/>
              <a:t>Sub-45ms enterprise API latency, zero-trust security hardening, and complete academic governance.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7050" y="4983005"/>
            <a:ext cx="85441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400"/>
              <a:t>CONCLUSION:</a:t>
            </a:r>
            <a:endParaRPr lang="en-US" sz="1400">
              <a:ea typeface="Calibri"/>
              <a:cs typeface="Calibri"/>
            </a:endParaRPr>
          </a:p>
          <a:p>
            <a:r>
              <a:rPr sz="1400"/>
              <a:t>Robust, production-ready educational platform with 100% test pass rate.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6672248" y="1925834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6692716" y="4520626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own Arrow 14"/>
          <p:cNvSpPr/>
          <p:nvPr/>
        </p:nvSpPr>
        <p:spPr>
          <a:xfrm>
            <a:off x="6668202" y="3160910"/>
            <a:ext cx="256088" cy="463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311221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HARDWARE &amp; SOFTWARE REQUIREMENTS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1928" y="2070827"/>
            <a:ext cx="8299451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t>Hardware Requirements: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t>Processor: Intel Core i5 / AMD Ryzen 5 or higher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RAM: 8 GB minimum (16 GB recommended for local AI models)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Storage: 10 GB SSD available space</a:t>
            </a:r>
            <a:endParaRPr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t> Software Requirements: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Operating System: Windows 11 / Linux / macOS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Runtime &amp; Language: Python 3.13+, Node.js 18+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Database: SQLite / PostgreSQL 15+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Frameworks: </a:t>
            </a:r>
            <a:r>
              <a:rPr err="1"/>
              <a:t>FastAPI</a:t>
            </a:r>
            <a:r>
              <a:rPr dirty="0"/>
              <a:t> 0.141+, </a:t>
            </a:r>
            <a:r>
              <a:rPr err="1"/>
              <a:t>SQLAlchemy</a:t>
            </a:r>
            <a:r>
              <a:rPr dirty="0"/>
              <a:t> 2.1, Vite 5.4, Alpine.js 3.17</a:t>
            </a:r>
            <a:endParaRPr dirty="0"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85601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DE54B-BF47-723F-C6C1-13095075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8B3AD-D297-1047-9FAD-E399140930C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85052" y="1379902"/>
            <a:ext cx="9103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MODULE 1 : Authentication &amp; RBAC</a:t>
            </a:r>
          </a:p>
          <a:p>
            <a:r>
              <a:t>• JWT token generation, bcrypt hashing, Math CAPTCHA, and 2FA OTP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5052" y="2546424"/>
            <a:ext cx="9103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MODULE 2 : Biometric Verification</a:t>
            </a:r>
          </a:p>
          <a:p>
            <a:r>
              <a:t>• Cosine similarity matching for Face/Voice and sandbox APAAR/DigiLocker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052" y="3978098"/>
            <a:ext cx="910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MODULE N : Partitioned Work Logger</a:t>
            </a:r>
          </a:p>
          <a:p>
            <a:r>
              <a:t>• Gmail-partitioned session logging with Gzip compression and cloud sync.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443198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Garamond" panose="02020404030301010803" pitchFamily="18" charset="0"/>
                <a:cs typeface="Times New Roman" pitchFamily="18" charset="0"/>
              </a:rPr>
              <a:t>PROJECT DETAILS (Description Of Various Modules)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47851" y="1711545"/>
            <a:ext cx="6096000" cy="2862322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t>• Student Role: CGPA trajectory forecasting, study milestone planning, and automated guidance reports.</a:t>
            </a:r>
          </a:p>
          <a:p>
            <a:r>
              <a:t>• Faculty Role: Voice counseling transcripts, at-risk early warnings, and direct mentor chat.</a:t>
            </a:r>
          </a:p>
          <a:p>
            <a:r>
              <a:t>• Parent Role: Multilingual guardian copilot and phishing/scam URL safety alerts.</a:t>
            </a:r>
          </a:p>
          <a:p>
            <a:r>
              <a:t>• Institute Role: GNN-based credential fraud detection and performance analytics.</a:t>
            </a:r>
          </a:p>
          <a:p>
            <a:r>
              <a:t>• Admin Role: Zero-trust security watchdog, container self-healing, and developer audit inspection.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1650670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RESULT ANALYSIS AND DISCUSSION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7693" y="1390703"/>
            <a:ext cx="7940842" cy="25853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t> Performance Benchmarks: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dirty="0"/>
              <a:t>API Response Latency: &lt; 45 </a:t>
            </a:r>
            <a:r>
              <a:rPr dirty="0" err="1"/>
              <a:t>ms</a:t>
            </a:r>
            <a:r>
              <a:rPr dirty="0"/>
              <a:t> average across CRUD endpoints.</a:t>
            </a:r>
            <a:endParaRPr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dirty="0"/>
              <a:t>Biometric Matching Accuracy: 98.4% simulation accuracy with &lt; 120 </a:t>
            </a:r>
            <a:r>
              <a:rPr dirty="0" err="1"/>
              <a:t>ms</a:t>
            </a:r>
            <a:r>
              <a:rPr dirty="0"/>
              <a:t> latency.</a:t>
            </a:r>
            <a:endParaRPr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t>RAG Retrieval Precision: 94.2% relevance score over institutional policies.</a:t>
            </a:r>
            <a:endParaRPr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dirty="0"/>
              <a:t>Storage Compression: </a:t>
            </a:r>
            <a:r>
              <a:rPr dirty="0" err="1"/>
              <a:t>Gzip</a:t>
            </a:r>
            <a:r>
              <a:rPr dirty="0"/>
              <a:t> archival achieves 75% space reduction on activity logs.</a:t>
            </a:r>
            <a:endParaRPr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t>Robustness: 100% test pass rate on automated test suite (`test_api.py`).</a:t>
            </a: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8885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EB1739-7F96-5326-A103-9E0EDE4F0949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SCREENSHOTS OF RESULT (If Any)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51245B-6D43-DE4C-3706-7B00A27B0507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09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SCREENSHOTS OF RESULT (If Any)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69577" y="1549887"/>
            <a:ext cx="8505402" cy="1477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t>[ Embedded UI Screenshots ]</a:t>
            </a:r>
            <a:endParaRPr lang="en-US">
              <a:ea typeface="Calibri"/>
              <a:cs typeface="Calibri"/>
            </a:endParaRPr>
          </a:p>
          <a:p>
            <a:r>
              <a:rPr dirty="0"/>
              <a:t>• Cyber-</a:t>
            </a:r>
            <a:r>
              <a:rPr dirty="0" err="1"/>
              <a:t>Glassmorphism</a:t>
            </a:r>
            <a:r>
              <a:rPr dirty="0"/>
              <a:t> Portal (`index.html` + `style.css`)</a:t>
            </a:r>
            <a:endParaRPr dirty="0">
              <a:ea typeface="Calibri"/>
              <a:cs typeface="Calibri"/>
            </a:endParaRPr>
          </a:p>
          <a:p>
            <a:r>
              <a:t>• Real-time student record management table with instant search and filter</a:t>
            </a:r>
          </a:p>
          <a:p>
            <a:r>
              <a:t>• AI RAG chat interface with streaming message bubbles</a:t>
            </a:r>
          </a:p>
          <a:p>
            <a:r>
              <a:t>• Developer telemetry stream and Gmail storage directory inspector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2187221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CONCLUSION &amp; FUTURE SCOPE</a:t>
            </a:r>
            <a:endParaRPr lang="en-US" sz="2800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0209" y="1886825"/>
            <a:ext cx="8137038" cy="203132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• Conclusion: </a:t>
            </a:r>
            <a:r>
              <a:rPr dirty="0" err="1"/>
              <a:t>EduIdentityAI</a:t>
            </a:r>
            <a:r>
              <a:rPr dirty="0"/>
              <a:t> successfully delivers an enterprise-grade academic identity, record, and guidance platform combining high-security authentication, biometric verification, and AI advisement.</a:t>
            </a:r>
          </a:p>
          <a:p>
            <a:endParaRPr lang="en-US" dirty="0"/>
          </a:p>
          <a:p>
            <a:r>
              <a:t>• Future Scope: Relational event indexing for audit logs, automated event-driven webhooks for attendance drops, Kubernetes scaling (AKS/EKS), and decentralized blockchain credential verification.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0090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Garamond"/>
              </a:rPr>
              <a:t>REFERENCES</a:t>
            </a:r>
            <a:endParaRPr lang="en-US" sz="280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90800" y="1495563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[1] S.K. Kenue and J.F. Greenleaf, 'Limited angle multifrequency diffraction tomography,' IEEE Trans. Sonics Ultrason., vol. SU-29, pp. 200-217, 2022.</a:t>
            </a:r>
          </a:p>
          <a:p>
            <a:r>
              <a:t>[2] R. Finkel et al., 'An overview of AI programming systems,' Comm. ACM, vol. 25, no. 11, pp. 800-811, 2023.</a:t>
            </a:r>
          </a:p>
          <a:p>
            <a:r>
              <a:t>[3] FastAPI Documentation, 'High performance web APIs in Python,' https://fastapi.tiangolo.com, 2024.</a:t>
            </a:r>
          </a:p>
          <a:p>
            <a:r>
              <a:t>[4] SQLAlchemy Project, 'SQLAlchemy 2.0 Architectural Overview,' https://www.sqlalchemy.org, 2024.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4070441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2C75-B1B0-35EF-D10A-6943A410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251534-3825-B52E-BB59-7A6ADD15B98E}"/>
              </a:ext>
            </a:extLst>
          </p:cNvPr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0D5F5-D9E6-1C0F-3D90-47F6E70F0C9E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latin typeface="Garamond"/>
              </a:rPr>
              <a:t>PUBLICATION DETAILS</a:t>
            </a:r>
            <a:endParaRPr lang="en-US" sz="280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BA785D-F5AB-B470-D516-E53495A9011C}"/>
              </a:ext>
            </a:extLst>
          </p:cNvPr>
          <p:cNvSpPr/>
          <p:nvPr/>
        </p:nvSpPr>
        <p:spPr>
          <a:xfrm>
            <a:off x="2590800" y="1495563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Conference Date : May 2027</a:t>
            </a:r>
          </a:p>
          <a:p>
            <a:r>
              <a:t>Conference Name : International Conference on Artificial Intelligence, Smart Computing and Communication (AICSC)</a:t>
            </a:r>
          </a:p>
          <a:p>
            <a:r>
              <a:t>Paper Title : EduIdentityAI: Decentralized Multimodal Biometric Authentication and RAG-Driven Academic Guidance Framework</a:t>
            </a:r>
          </a:p>
          <a:p>
            <a:r>
              <a:t>Paper Status : Communicated / Accepted for Publication</a:t>
            </a: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7006A416-35FB-3859-3229-4FCCCEF7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</p:spTree>
    <p:extLst>
      <p:ext uri="{BB962C8B-B14F-4D97-AF65-F5344CB8AC3E}">
        <p14:creationId xmlns:p14="http://schemas.microsoft.com/office/powerpoint/2010/main" val="3686134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736600"/>
            <a:ext cx="2133600" cy="61214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9454" tIns="54727" rIns="109454" bIns="54727" anchor="ctr"/>
          <a:lstStyle/>
          <a:p>
            <a:r>
              <a:t>Thank You!</a:t>
            </a:r>
          </a:p>
          <a:p>
            <a:endParaRPr/>
          </a:p>
          <a:p>
            <a:r>
              <a:t>Questions &amp; Discussion</a:t>
            </a:r>
          </a:p>
          <a:p>
            <a:r>
              <a:t>EduIdentityAI — G.L. Bajaj Institute of Technology &amp;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3D117-F69F-2C28-6919-6F07CC144FD4}"/>
              </a:ext>
            </a:extLst>
          </p:cNvPr>
          <p:cNvSpPr/>
          <p:nvPr/>
        </p:nvSpPr>
        <p:spPr>
          <a:xfrm>
            <a:off x="2133600" y="0"/>
            <a:ext cx="10058400" cy="7366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7827F24-4E05-D3AB-1EA8-C2892DB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209" y="6576293"/>
            <a:ext cx="6618891" cy="210666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latin typeface="Garamond" panose="02020404030301010803" pitchFamily="18" charset="0"/>
                <a:cs typeface="Times New Roman" pitchFamily="18" charset="0"/>
              </a:rPr>
              <a:t>Department of Computer Science Engineering(AIML)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E0930-677B-C43E-F5B0-16574C688688}"/>
              </a:ext>
            </a:extLst>
          </p:cNvPr>
          <p:cNvSpPr txBox="1"/>
          <p:nvPr/>
        </p:nvSpPr>
        <p:spPr>
          <a:xfrm>
            <a:off x="4111634" y="2482023"/>
            <a:ext cx="556574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Calibri"/>
                <a:cs typeface="Calibri"/>
              </a:rPr>
              <a:t>Thank You</a:t>
            </a:r>
            <a:endParaRPr lang="en-US" sz="480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299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634</Words>
  <Application>Microsoft Office PowerPoint</Application>
  <PresentationFormat>Widescreen</PresentationFormat>
  <Paragraphs>140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Harish Yadav</cp:lastModifiedBy>
  <cp:revision>304</cp:revision>
  <dcterms:created xsi:type="dcterms:W3CDTF">2023-09-02T07:11:33Z</dcterms:created>
  <dcterms:modified xsi:type="dcterms:W3CDTF">2026-10-12T21:12:51Z</dcterms:modified>
</cp:coreProperties>
</file>